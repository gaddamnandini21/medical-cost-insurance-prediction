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0" r:id="rId1"/>
  </p:sldMasterIdLst>
  <p:sldIdLst>
    <p:sldId id="257" r:id="rId2"/>
    <p:sldId id="258" r:id="rId3"/>
    <p:sldId id="259" r:id="rId4"/>
    <p:sldId id="260" r:id="rId5"/>
    <p:sldId id="261" r:id="rId6"/>
    <p:sldId id="262" r:id="rId7"/>
    <p:sldId id="263" r:id="rId8"/>
    <p:sldId id="264" r:id="rId9"/>
    <p:sldId id="275" r:id="rId10"/>
    <p:sldId id="266" r:id="rId11"/>
    <p:sldId id="267" r:id="rId12"/>
    <p:sldId id="268" r:id="rId13"/>
    <p:sldId id="269" r:id="rId14"/>
    <p:sldId id="270" r:id="rId15"/>
    <p:sldId id="271" r:id="rId16"/>
    <p:sldId id="272" r:id="rId17"/>
    <p:sldId id="273" r:id="rId18"/>
    <p:sldId id="274" r:id="rId19"/>
    <p:sldId id="265" r:id="rId20"/>
    <p:sldId id="276"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72"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FF33479-E1B5-4F9E-9D21-BC49B66E61E0}" type="datetimeFigureOut">
              <a:rPr lang="en-IN" smtClean="0"/>
              <a:t>17-07-2025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1A919FD-C893-45AF-9805-CF595D3B98A4}"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24638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FF33479-E1B5-4F9E-9D21-BC49B66E61E0}" type="datetimeFigureOut">
              <a:rPr lang="en-IN" smtClean="0"/>
              <a:t>17-07-2025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1A919FD-C893-45AF-9805-CF595D3B98A4}" type="slidenum">
              <a:rPr lang="en-IN" smtClean="0"/>
              <a:t>‹#›</a:t>
            </a:fld>
            <a:endParaRPr lang="en-IN"/>
          </a:p>
        </p:txBody>
      </p:sp>
    </p:spTree>
    <p:extLst>
      <p:ext uri="{BB962C8B-B14F-4D97-AF65-F5344CB8AC3E}">
        <p14:creationId xmlns:p14="http://schemas.microsoft.com/office/powerpoint/2010/main" val="21571144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FF33479-E1B5-4F9E-9D21-BC49B66E61E0}" type="datetimeFigureOut">
              <a:rPr lang="en-IN" smtClean="0"/>
              <a:t>17-07-2025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1A919FD-C893-45AF-9805-CF595D3B98A4}"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215443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FF33479-E1B5-4F9E-9D21-BC49B66E61E0}" type="datetimeFigureOut">
              <a:rPr lang="en-IN" smtClean="0"/>
              <a:t>17-07-2025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1A919FD-C893-45AF-9805-CF595D3B98A4}" type="slidenum">
              <a:rPr lang="en-IN" smtClean="0"/>
              <a:t>‹#›</a:t>
            </a:fld>
            <a:endParaRPr lang="en-IN"/>
          </a:p>
        </p:txBody>
      </p:sp>
    </p:spTree>
    <p:extLst>
      <p:ext uri="{BB962C8B-B14F-4D97-AF65-F5344CB8AC3E}">
        <p14:creationId xmlns:p14="http://schemas.microsoft.com/office/powerpoint/2010/main" val="2615412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FF33479-E1B5-4F9E-9D21-BC49B66E61E0}" type="datetimeFigureOut">
              <a:rPr lang="en-IN" smtClean="0"/>
              <a:t>17-07-2025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1A919FD-C893-45AF-9805-CF595D3B98A4}" type="slidenum">
              <a:rPr lang="en-IN" smtClean="0"/>
              <a:t>‹#›</a:t>
            </a:fld>
            <a:endParaRPr lang="en-IN"/>
          </a:p>
        </p:txBody>
      </p:sp>
    </p:spTree>
    <p:extLst>
      <p:ext uri="{BB962C8B-B14F-4D97-AF65-F5344CB8AC3E}">
        <p14:creationId xmlns:p14="http://schemas.microsoft.com/office/powerpoint/2010/main" val="141100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FF33479-E1B5-4F9E-9D21-BC49B66E61E0}" type="datetimeFigureOut">
              <a:rPr lang="en-IN" smtClean="0"/>
              <a:t>17-07-2025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1A919FD-C893-45AF-9805-CF595D3B98A4}" type="slidenum">
              <a:rPr lang="en-IN" smtClean="0"/>
              <a:t>‹#›</a:t>
            </a:fld>
            <a:endParaRPr lang="en-IN"/>
          </a:p>
        </p:txBody>
      </p:sp>
    </p:spTree>
    <p:extLst>
      <p:ext uri="{BB962C8B-B14F-4D97-AF65-F5344CB8AC3E}">
        <p14:creationId xmlns:p14="http://schemas.microsoft.com/office/powerpoint/2010/main" val="25131760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6FF33479-E1B5-4F9E-9D21-BC49B66E61E0}" type="datetimeFigureOut">
              <a:rPr lang="en-IN" smtClean="0"/>
              <a:t>17-07-2025</a:t>
            </a:fld>
            <a:endParaRPr lang="en-IN"/>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IN"/>
          </a:p>
        </p:txBody>
      </p:sp>
      <p:sp>
        <p:nvSpPr>
          <p:cNvPr id="9" name="Slide Number Placeholder 8"/>
          <p:cNvSpPr>
            <a:spLocks noGrp="1"/>
          </p:cNvSpPr>
          <p:nvPr>
            <p:ph type="sldNum" sz="quarter" idx="12"/>
          </p:nvPr>
        </p:nvSpPr>
        <p:spPr/>
        <p:txBody>
          <a:bodyPr/>
          <a:lstStyle/>
          <a:p>
            <a:fld id="{F1A919FD-C893-45AF-9805-CF595D3B98A4}" type="slidenum">
              <a:rPr lang="en-IN" smtClean="0"/>
              <a:t>‹#›</a:t>
            </a:fld>
            <a:endParaRPr lang="en-IN"/>
          </a:p>
        </p:txBody>
      </p:sp>
    </p:spTree>
    <p:extLst>
      <p:ext uri="{BB962C8B-B14F-4D97-AF65-F5344CB8AC3E}">
        <p14:creationId xmlns:p14="http://schemas.microsoft.com/office/powerpoint/2010/main" val="2609488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6FF33479-E1B5-4F9E-9D21-BC49B66E61E0}" type="datetimeFigureOut">
              <a:rPr lang="en-IN" smtClean="0"/>
              <a:t>17-07-2025</a:t>
            </a:fld>
            <a:endParaRPr lang="en-IN"/>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IN"/>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F1A919FD-C893-45AF-9805-CF595D3B98A4}" type="slidenum">
              <a:rPr lang="en-IN" smtClean="0"/>
              <a:t>‹#›</a:t>
            </a:fld>
            <a:endParaRPr lang="en-IN"/>
          </a:p>
        </p:txBody>
      </p:sp>
    </p:spTree>
    <p:extLst>
      <p:ext uri="{BB962C8B-B14F-4D97-AF65-F5344CB8AC3E}">
        <p14:creationId xmlns:p14="http://schemas.microsoft.com/office/powerpoint/2010/main" val="13296300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FF33479-E1B5-4F9E-9D21-BC49B66E61E0}" type="datetimeFigureOut">
              <a:rPr lang="en-IN" smtClean="0"/>
              <a:t>17-07-2025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1A919FD-C893-45AF-9805-CF595D3B98A4}" type="slidenum">
              <a:rPr lang="en-IN" smtClean="0"/>
              <a:t>‹#›</a:t>
            </a:fld>
            <a:endParaRPr lang="en-IN"/>
          </a:p>
        </p:txBody>
      </p:sp>
    </p:spTree>
    <p:extLst>
      <p:ext uri="{BB962C8B-B14F-4D97-AF65-F5344CB8AC3E}">
        <p14:creationId xmlns:p14="http://schemas.microsoft.com/office/powerpoint/2010/main" val="19718653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FF33479-E1B5-4F9E-9D21-BC49B66E61E0}" type="datetimeFigureOut">
              <a:rPr lang="en-IN" smtClean="0"/>
              <a:t>17-07-2025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1A919FD-C893-45AF-9805-CF595D3B98A4}" type="slidenum">
              <a:rPr lang="en-IN" smtClean="0"/>
              <a:t>‹#›</a:t>
            </a:fld>
            <a:endParaRPr lang="en-IN"/>
          </a:p>
        </p:txBody>
      </p:sp>
    </p:spTree>
    <p:extLst>
      <p:ext uri="{BB962C8B-B14F-4D97-AF65-F5344CB8AC3E}">
        <p14:creationId xmlns:p14="http://schemas.microsoft.com/office/powerpoint/2010/main" val="29627764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FF33479-E1B5-4F9E-9D21-BC49B66E61E0}" type="datetimeFigureOut">
              <a:rPr lang="en-IN" smtClean="0"/>
              <a:t>17-07-2025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1A919FD-C893-45AF-9805-CF595D3B98A4}" type="slidenum">
              <a:rPr lang="en-IN" smtClean="0"/>
              <a:t>‹#›</a:t>
            </a:fld>
            <a:endParaRPr lang="en-IN"/>
          </a:p>
        </p:txBody>
      </p:sp>
    </p:spTree>
    <p:extLst>
      <p:ext uri="{BB962C8B-B14F-4D97-AF65-F5344CB8AC3E}">
        <p14:creationId xmlns:p14="http://schemas.microsoft.com/office/powerpoint/2010/main" val="27986868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6FF33479-E1B5-4F9E-9D21-BC49B66E61E0}" type="datetimeFigureOut">
              <a:rPr lang="en-IN" smtClean="0"/>
              <a:t>17-07-2025</a:t>
            </a:fld>
            <a:endParaRPr lang="en-IN"/>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IN"/>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F1A919FD-C893-45AF-9805-CF595D3B98A4}" type="slidenum">
              <a:rPr lang="en-IN" smtClean="0"/>
              <a:t>‹#›</a:t>
            </a:fld>
            <a:endParaRPr lang="en-IN"/>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84251583"/>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mailto:Prinston.Smart@gmail.com"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90BDC90-A443-8E2C-EA4C-D81EE77D4984}"/>
              </a:ext>
            </a:extLst>
          </p:cNvPr>
          <p:cNvSpPr>
            <a:spLocks noGrp="1"/>
          </p:cNvSpPr>
          <p:nvPr>
            <p:ph idx="1"/>
          </p:nvPr>
        </p:nvSpPr>
        <p:spPr>
          <a:xfrm>
            <a:off x="838200" y="589935"/>
            <a:ext cx="10515600" cy="5587028"/>
          </a:xfrm>
        </p:spPr>
        <p:txBody>
          <a:bodyPr>
            <a:normAutofit fontScale="92500" lnSpcReduction="10000"/>
          </a:bodyPr>
          <a:lstStyle/>
          <a:p>
            <a:pPr marL="0" indent="0">
              <a:buNone/>
            </a:pPr>
            <a:r>
              <a:rPr lang="en-IN" dirty="0"/>
              <a:t>                                                  </a:t>
            </a:r>
          </a:p>
          <a:p>
            <a:pPr marL="0" indent="0">
              <a:buNone/>
            </a:pPr>
            <a:r>
              <a:rPr lang="en-IN" dirty="0"/>
              <a:t>                                                          </a:t>
            </a:r>
            <a:r>
              <a:rPr lang="en-IN" sz="2800" dirty="0">
                <a:latin typeface="Algerian" panose="04020705040A02060702" pitchFamily="82" charset="0"/>
              </a:rPr>
              <a:t>Machine learning internship</a:t>
            </a:r>
          </a:p>
          <a:p>
            <a:pPr marL="0" indent="0">
              <a:buNone/>
            </a:pPr>
            <a:endParaRPr lang="en-IN" sz="2800" dirty="0">
              <a:latin typeface="Algerian" panose="04020705040A02060702" pitchFamily="82" charset="0"/>
            </a:endParaRPr>
          </a:p>
          <a:p>
            <a:pPr marL="0" indent="0">
              <a:buNone/>
            </a:pPr>
            <a:r>
              <a:rPr lang="en-IN" sz="2800" dirty="0">
                <a:latin typeface="Algerian" panose="04020705040A02060702" pitchFamily="82" charset="0"/>
              </a:rPr>
              <a:t>                            </a:t>
            </a:r>
            <a:r>
              <a:rPr lang="en-IN" sz="2800" dirty="0">
                <a:latin typeface="Aptos" panose="020B0004020202020204" pitchFamily="34" charset="0"/>
              </a:rPr>
              <a:t>P</a:t>
            </a:r>
            <a:r>
              <a:rPr lang="en-IN" dirty="0">
                <a:latin typeface="Aptos" panose="020B0004020202020204" pitchFamily="34" charset="0"/>
              </a:rPr>
              <a:t>resentation on:</a:t>
            </a:r>
          </a:p>
          <a:p>
            <a:pPr marL="0" indent="0">
              <a:buNone/>
            </a:pPr>
            <a:r>
              <a:rPr lang="en-IN" dirty="0">
                <a:latin typeface="Aptos" panose="020B0004020202020204" pitchFamily="34" charset="0"/>
              </a:rPr>
              <a:t>                  “</a:t>
            </a:r>
            <a:r>
              <a:rPr lang="en-IN" sz="2800">
                <a:latin typeface="Aptos" panose="020B0004020202020204" pitchFamily="34" charset="0"/>
              </a:rPr>
              <a:t>MEDICAL INSURANCE COST  </a:t>
            </a:r>
            <a:r>
              <a:rPr lang="en-IN" sz="2800" dirty="0">
                <a:latin typeface="Aptos" panose="020B0004020202020204" pitchFamily="34" charset="0"/>
              </a:rPr>
              <a:t>PREDICTION”</a:t>
            </a:r>
          </a:p>
          <a:p>
            <a:pPr marL="0" indent="0">
              <a:buNone/>
            </a:pPr>
            <a:r>
              <a:rPr lang="en-IN" sz="2800" dirty="0">
                <a:latin typeface="Aptos" panose="020B0004020202020204" pitchFamily="34" charset="0"/>
              </a:rPr>
              <a:t> Under the guideline of:</a:t>
            </a:r>
          </a:p>
          <a:p>
            <a:pPr marL="0" indent="0">
              <a:buNone/>
            </a:pPr>
            <a:r>
              <a:rPr lang="en-IN" sz="2800" dirty="0">
                <a:latin typeface="Aptos" panose="020B0004020202020204" pitchFamily="34" charset="0"/>
              </a:rPr>
              <a:t> PRINSTON SMART ENGINEERS</a:t>
            </a:r>
          </a:p>
          <a:p>
            <a:pPr marL="0" indent="0">
              <a:buNone/>
            </a:pPr>
            <a:r>
              <a:rPr lang="en-IN" sz="2800" dirty="0">
                <a:latin typeface="Aptos" panose="020B0004020202020204" pitchFamily="34" charset="0"/>
              </a:rPr>
              <a:t>              Madanapalle Institute of Technology &amp; Science</a:t>
            </a:r>
          </a:p>
          <a:p>
            <a:pPr marL="0" indent="0">
              <a:buNone/>
            </a:pPr>
            <a:r>
              <a:rPr lang="en-IN" sz="2800" dirty="0">
                <a:latin typeface="Aptos" panose="020B0004020202020204" pitchFamily="34" charset="0"/>
              </a:rPr>
              <a:t>                                 Department of CSE-DS</a:t>
            </a:r>
          </a:p>
          <a:p>
            <a:pPr marL="0" indent="0">
              <a:buNone/>
            </a:pPr>
            <a:r>
              <a:rPr lang="en-IN" sz="2400" dirty="0">
                <a:latin typeface="Aptos" panose="020B0004020202020204" pitchFamily="34" charset="0"/>
              </a:rPr>
              <a:t> Presented by:</a:t>
            </a:r>
          </a:p>
          <a:p>
            <a:pPr marL="0" indent="0">
              <a:buNone/>
            </a:pPr>
            <a:r>
              <a:rPr lang="en-IN" sz="2400" dirty="0">
                <a:latin typeface="Aptos" panose="020B0004020202020204" pitchFamily="34" charset="0"/>
              </a:rPr>
              <a:t> GADDAMNANDINI – 23691A3289</a:t>
            </a:r>
          </a:p>
          <a:p>
            <a:pPr marL="0" indent="0">
              <a:buNone/>
            </a:pPr>
            <a:endParaRPr lang="en-IN" sz="2400" dirty="0">
              <a:latin typeface="Aptos" panose="020B0004020202020204" pitchFamily="34" charset="0"/>
            </a:endParaRPr>
          </a:p>
          <a:p>
            <a:pPr marL="0" indent="0">
              <a:buNone/>
            </a:pPr>
            <a:endParaRPr lang="en-IN" sz="2400" dirty="0">
              <a:latin typeface="Aptos" panose="020B0004020202020204" pitchFamily="34" charset="0"/>
            </a:endParaRPr>
          </a:p>
          <a:p>
            <a:pPr marL="0" indent="0">
              <a:buNone/>
            </a:pPr>
            <a:endParaRPr lang="en-IN" sz="2800" dirty="0">
              <a:latin typeface="Algerian" panose="04020705040A02060702" pitchFamily="82" charset="0"/>
            </a:endParaRPr>
          </a:p>
        </p:txBody>
      </p:sp>
    </p:spTree>
    <p:extLst>
      <p:ext uri="{BB962C8B-B14F-4D97-AF65-F5344CB8AC3E}">
        <p14:creationId xmlns:p14="http://schemas.microsoft.com/office/powerpoint/2010/main" val="32020171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3FD9706-DE75-58C4-A37D-B77CCCC6EE91}"/>
              </a:ext>
            </a:extLst>
          </p:cNvPr>
          <p:cNvSpPr>
            <a:spLocks noGrp="1"/>
          </p:cNvSpPr>
          <p:nvPr>
            <p:ph idx="1"/>
          </p:nvPr>
        </p:nvSpPr>
        <p:spPr>
          <a:xfrm>
            <a:off x="1097280" y="320040"/>
            <a:ext cx="10058400" cy="5549054"/>
          </a:xfrm>
        </p:spPr>
        <p:txBody>
          <a:bodyPr>
            <a:normAutofit fontScale="62500" lnSpcReduction="20000"/>
          </a:bodyPr>
          <a:lstStyle/>
          <a:p>
            <a:r>
              <a:rPr lang="en-IN" sz="3200" dirty="0"/>
              <a:t>   </a:t>
            </a:r>
          </a:p>
          <a:p>
            <a:r>
              <a:rPr lang="en-IN" sz="3200" dirty="0">
                <a:latin typeface="Algerian" panose="04020705040A02060702" pitchFamily="82" charset="0"/>
              </a:rPr>
              <a:t>   </a:t>
            </a:r>
            <a:r>
              <a:rPr lang="en-IN" sz="6000" dirty="0">
                <a:latin typeface="Algerian" panose="04020705040A02060702" pitchFamily="82" charset="0"/>
              </a:rPr>
              <a:t>CONTENTS</a:t>
            </a:r>
          </a:p>
          <a:p>
            <a:pPr>
              <a:buFont typeface="Wingdings" panose="05000000000000000000" pitchFamily="2" charset="2"/>
              <a:buChar char="Ø"/>
            </a:pPr>
            <a:endParaRPr lang="en-IN" sz="2800" dirty="0"/>
          </a:p>
          <a:p>
            <a:pPr>
              <a:buFont typeface="Wingdings" panose="05000000000000000000" pitchFamily="2" charset="2"/>
              <a:buChar char="Ø"/>
            </a:pPr>
            <a:endParaRPr lang="en-IN" sz="2800" dirty="0"/>
          </a:p>
          <a:p>
            <a:pPr>
              <a:buFont typeface="Wingdings" panose="05000000000000000000" pitchFamily="2" charset="2"/>
              <a:buChar char="Ø"/>
            </a:pPr>
            <a:r>
              <a:rPr lang="en-IN" sz="2800" dirty="0"/>
              <a:t>  Abstract</a:t>
            </a:r>
          </a:p>
          <a:p>
            <a:pPr>
              <a:buFont typeface="Wingdings" panose="05000000000000000000" pitchFamily="2" charset="2"/>
              <a:buChar char="Ø"/>
            </a:pPr>
            <a:r>
              <a:rPr lang="en-IN" sz="2800" dirty="0"/>
              <a:t>Introduction</a:t>
            </a:r>
          </a:p>
          <a:p>
            <a:pPr>
              <a:buFont typeface="Wingdings" panose="05000000000000000000" pitchFamily="2" charset="2"/>
              <a:buChar char="Ø"/>
            </a:pPr>
            <a:r>
              <a:rPr lang="en-IN" sz="2800" dirty="0"/>
              <a:t>Company Profile</a:t>
            </a:r>
          </a:p>
          <a:p>
            <a:pPr>
              <a:buFont typeface="Wingdings" panose="05000000000000000000" pitchFamily="2" charset="2"/>
              <a:buChar char="Ø"/>
            </a:pPr>
            <a:r>
              <a:rPr lang="en-IN" sz="2800" dirty="0"/>
              <a:t>Problem Statement</a:t>
            </a:r>
          </a:p>
          <a:p>
            <a:pPr>
              <a:buFont typeface="Wingdings" panose="05000000000000000000" pitchFamily="2" charset="2"/>
              <a:buChar char="Ø"/>
            </a:pPr>
            <a:r>
              <a:rPr lang="en-IN" sz="2800" dirty="0"/>
              <a:t>Objective</a:t>
            </a:r>
          </a:p>
          <a:p>
            <a:pPr>
              <a:buFont typeface="Wingdings" panose="05000000000000000000" pitchFamily="2" charset="2"/>
              <a:buChar char="Ø"/>
            </a:pPr>
            <a:r>
              <a:rPr lang="en-IN" sz="2800" dirty="0"/>
              <a:t>Dataset</a:t>
            </a:r>
          </a:p>
          <a:p>
            <a:pPr>
              <a:buFont typeface="Wingdings" panose="05000000000000000000" pitchFamily="2" charset="2"/>
              <a:buChar char="Ø"/>
            </a:pPr>
            <a:r>
              <a:rPr lang="en-IN" sz="2800" dirty="0"/>
              <a:t>Libraries Used</a:t>
            </a:r>
          </a:p>
          <a:p>
            <a:pPr>
              <a:buFont typeface="Wingdings" panose="05000000000000000000" pitchFamily="2" charset="2"/>
              <a:buChar char="Ø"/>
            </a:pPr>
            <a:r>
              <a:rPr lang="en-IN" sz="2800" dirty="0"/>
              <a:t>Implementation(code)</a:t>
            </a:r>
          </a:p>
          <a:p>
            <a:pPr>
              <a:buFont typeface="Wingdings" panose="05000000000000000000" pitchFamily="2" charset="2"/>
              <a:buChar char="Ø"/>
            </a:pPr>
            <a:r>
              <a:rPr lang="en-IN" sz="2800" dirty="0">
                <a:latin typeface="Algerian" panose="04020705040A02060702" pitchFamily="82" charset="0"/>
              </a:rPr>
              <a:t> </a:t>
            </a:r>
            <a:r>
              <a:rPr lang="en-IN" sz="2800" dirty="0"/>
              <a:t>Snapshots of the Project</a:t>
            </a:r>
          </a:p>
          <a:p>
            <a:pPr>
              <a:buFont typeface="Wingdings" panose="05000000000000000000" pitchFamily="2" charset="2"/>
              <a:buChar char="Ø"/>
            </a:pPr>
            <a:r>
              <a:rPr lang="en-IN" sz="2800" dirty="0"/>
              <a:t>Conclusion</a:t>
            </a:r>
          </a:p>
          <a:p>
            <a:pPr>
              <a:buFont typeface="Wingdings" panose="05000000000000000000" pitchFamily="2" charset="2"/>
              <a:buChar char="Ø"/>
            </a:pPr>
            <a:endParaRPr lang="en-IN" dirty="0">
              <a:latin typeface="Algerian" panose="04020705040A02060702" pitchFamily="82" charset="0"/>
            </a:endParaRPr>
          </a:p>
        </p:txBody>
      </p:sp>
    </p:spTree>
    <p:extLst>
      <p:ext uri="{BB962C8B-B14F-4D97-AF65-F5344CB8AC3E}">
        <p14:creationId xmlns:p14="http://schemas.microsoft.com/office/powerpoint/2010/main" val="36328229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32DE13C-7810-C521-F24D-ADA4B5F97A97}"/>
              </a:ext>
            </a:extLst>
          </p:cNvPr>
          <p:cNvSpPr>
            <a:spLocks noGrp="1"/>
          </p:cNvSpPr>
          <p:nvPr>
            <p:ph idx="1"/>
          </p:nvPr>
        </p:nvSpPr>
        <p:spPr>
          <a:xfrm>
            <a:off x="579120" y="365760"/>
            <a:ext cx="10576560" cy="5503334"/>
          </a:xfrm>
        </p:spPr>
        <p:txBody>
          <a:bodyPr>
            <a:normAutofit/>
          </a:bodyPr>
          <a:lstStyle/>
          <a:p>
            <a:r>
              <a:rPr lang="en-IN" sz="3200" dirty="0">
                <a:latin typeface="Algerian" panose="04020705040A02060702" pitchFamily="82" charset="0"/>
              </a:rPr>
              <a:t>  </a:t>
            </a:r>
          </a:p>
          <a:p>
            <a:r>
              <a:rPr lang="en-IN" sz="3200" dirty="0">
                <a:latin typeface="Algerian" panose="04020705040A02060702" pitchFamily="82" charset="0"/>
              </a:rPr>
              <a:t>  ABSTRACT</a:t>
            </a:r>
          </a:p>
          <a:p>
            <a:pPr marL="0" indent="0">
              <a:buNone/>
            </a:pPr>
            <a:endParaRPr lang="en-IN" sz="3200" dirty="0">
              <a:latin typeface="Algerian" panose="04020705040A02060702" pitchFamily="82" charset="0"/>
            </a:endParaRPr>
          </a:p>
          <a:p>
            <a:pPr marL="0" indent="0">
              <a:buNone/>
            </a:pPr>
            <a:r>
              <a:rPr lang="en-IN" sz="1800" dirty="0"/>
              <a:t>The medical insurance charges is crucial for both healthcare providers and policyholders. This project presents a Machine Learning-based Approach to Predict individual  Medical Costs Using demographic and  health-related Costs using demographic and health-related features. The dataset includes variables such as age,sex,body mass Index(BMI), number of children, smoking status, and region. After performing Exploratory data analysis and preprocessing (including encoding ad feature scaling),four models were Applied:Simple Linear Regression , Multiple Linear Regression(MLR), K-Nearest Neighbours (KNN), and Support Vector Machine(SVM) Regression. Performance evaluation using R2 score and error metrics indicated that MLR and SVM achieved better prediction accuracy compared to others. The analysis highlights smoking and BMI as critical factors influenincg medical  charges. The study concludes with suggestions for future improvements such as hyperparameter  optimization, feature engineering, and model deployment for real – world applications.</a:t>
            </a:r>
          </a:p>
        </p:txBody>
      </p:sp>
    </p:spTree>
    <p:extLst>
      <p:ext uri="{BB962C8B-B14F-4D97-AF65-F5344CB8AC3E}">
        <p14:creationId xmlns:p14="http://schemas.microsoft.com/office/powerpoint/2010/main" val="5361058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F7A6BB8-BA40-D691-10C4-EC772C1DFC9C}"/>
              </a:ext>
            </a:extLst>
          </p:cNvPr>
          <p:cNvSpPr>
            <a:spLocks noGrp="1"/>
          </p:cNvSpPr>
          <p:nvPr>
            <p:ph idx="1"/>
          </p:nvPr>
        </p:nvSpPr>
        <p:spPr>
          <a:xfrm>
            <a:off x="1097280" y="487680"/>
            <a:ext cx="10058400" cy="5381414"/>
          </a:xfrm>
        </p:spPr>
        <p:txBody>
          <a:bodyPr>
            <a:normAutofit/>
          </a:bodyPr>
          <a:lstStyle/>
          <a:p>
            <a:r>
              <a:rPr lang="en-IN" sz="3200" dirty="0">
                <a:latin typeface="Algerian" panose="04020705040A02060702" pitchFamily="82" charset="0"/>
              </a:rPr>
              <a:t>            </a:t>
            </a:r>
          </a:p>
          <a:p>
            <a:r>
              <a:rPr lang="en-IN" sz="3200" dirty="0">
                <a:latin typeface="Algerian" panose="04020705040A02060702" pitchFamily="82" charset="0"/>
              </a:rPr>
              <a:t>  introduction</a:t>
            </a:r>
          </a:p>
          <a:p>
            <a:endParaRPr lang="en-IN" sz="3200" dirty="0">
              <a:latin typeface="Algerian" panose="04020705040A02060702" pitchFamily="82" charset="0"/>
            </a:endParaRPr>
          </a:p>
          <a:p>
            <a:r>
              <a:rPr lang="en-IN" dirty="0"/>
              <a:t>The prediction of medical insurance charges is essential for effective healthcare planning and insurance cost management. This project applies machine learning techniques  to predict individual medical expenses using a dataset that includes feature like age ,BMI, smoking status, and region. By exploring and Preprocessing the data, and implementing models such as the project aims to identify key cost-driving factors and evaluate model performance in forecasting medical charges. </a:t>
            </a:r>
          </a:p>
        </p:txBody>
      </p:sp>
    </p:spTree>
    <p:extLst>
      <p:ext uri="{BB962C8B-B14F-4D97-AF65-F5344CB8AC3E}">
        <p14:creationId xmlns:p14="http://schemas.microsoft.com/office/powerpoint/2010/main" val="42823625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348F4C0-C7C1-099A-FB07-27786CDD28D2}"/>
              </a:ext>
            </a:extLst>
          </p:cNvPr>
          <p:cNvSpPr>
            <a:spLocks noGrp="1"/>
          </p:cNvSpPr>
          <p:nvPr>
            <p:ph idx="1"/>
          </p:nvPr>
        </p:nvSpPr>
        <p:spPr>
          <a:xfrm>
            <a:off x="1097280" y="502920"/>
            <a:ext cx="10058400" cy="5366174"/>
          </a:xfrm>
        </p:spPr>
        <p:txBody>
          <a:bodyPr>
            <a:normAutofit/>
          </a:bodyPr>
          <a:lstStyle/>
          <a:p>
            <a:r>
              <a:rPr lang="en-IN" sz="3600" dirty="0">
                <a:latin typeface="Algerian" panose="04020705040A02060702" pitchFamily="82" charset="0"/>
              </a:rPr>
              <a:t>  </a:t>
            </a:r>
          </a:p>
          <a:p>
            <a:r>
              <a:rPr lang="en-IN" sz="3600" dirty="0">
                <a:latin typeface="Algerian" panose="04020705040A02060702" pitchFamily="82" charset="0"/>
              </a:rPr>
              <a:t> Company profile</a:t>
            </a:r>
          </a:p>
          <a:p>
            <a:pPr>
              <a:buFont typeface="Wingdings" panose="05000000000000000000" pitchFamily="2" charset="2"/>
              <a:buChar char="v"/>
            </a:pPr>
            <a:r>
              <a:rPr lang="en-IN" dirty="0"/>
              <a:t>Name : PRINSTON SMART ENGINEERS</a:t>
            </a:r>
          </a:p>
          <a:p>
            <a:pPr>
              <a:buFont typeface="Wingdings" panose="05000000000000000000" pitchFamily="2" charset="2"/>
              <a:buChar char="v"/>
            </a:pPr>
            <a:r>
              <a:rPr lang="en-IN" dirty="0"/>
              <a:t>Main Office : Vishnuvardhan Statue Rd, Vishwa Priya Nagar, Begur,</a:t>
            </a:r>
          </a:p>
          <a:p>
            <a:r>
              <a:rPr lang="en-IN" dirty="0"/>
              <a:t>Bengaluru, Karnataka, 560068</a:t>
            </a:r>
          </a:p>
          <a:p>
            <a:pPr>
              <a:buFont typeface="Wingdings" panose="05000000000000000000" pitchFamily="2" charset="2"/>
              <a:buChar char="v"/>
            </a:pPr>
            <a:r>
              <a:rPr lang="en-IN" dirty="0"/>
              <a:t>Phone : 9513106196</a:t>
            </a:r>
          </a:p>
          <a:p>
            <a:pPr>
              <a:buFont typeface="Wingdings" panose="05000000000000000000" pitchFamily="2" charset="2"/>
              <a:buChar char="v"/>
            </a:pPr>
            <a:r>
              <a:rPr lang="en-IN" dirty="0"/>
              <a:t>Email : </a:t>
            </a:r>
            <a:r>
              <a:rPr lang="en-IN" dirty="0">
                <a:hlinkClick r:id="rId2"/>
              </a:rPr>
              <a:t>Prinston.Smart@gmail.com</a:t>
            </a:r>
            <a:endParaRPr lang="en-IN" dirty="0"/>
          </a:p>
          <a:p>
            <a:pPr>
              <a:buFont typeface="Wingdings" panose="05000000000000000000" pitchFamily="2" charset="2"/>
              <a:buChar char="v"/>
            </a:pPr>
            <a:r>
              <a:rPr lang="en-IN" dirty="0"/>
              <a:t>Contact Person: Mrs. Farheen </a:t>
            </a:r>
            <a:r>
              <a:rPr lang="en-IN" dirty="0" err="1"/>
              <a:t>Farhath</a:t>
            </a:r>
            <a:r>
              <a:rPr lang="en-IN" dirty="0"/>
              <a:t> (Managing Director)</a:t>
            </a:r>
          </a:p>
          <a:p>
            <a:pPr>
              <a:buFont typeface="Wingdings" panose="05000000000000000000" pitchFamily="2" charset="2"/>
              <a:buChar char="v"/>
            </a:pPr>
            <a:r>
              <a:rPr lang="en-IN" dirty="0"/>
              <a:t>Year stand up : 2004</a:t>
            </a:r>
          </a:p>
          <a:p>
            <a:pPr>
              <a:buFont typeface="Wingdings" panose="05000000000000000000" pitchFamily="2" charset="2"/>
              <a:buChar char="v"/>
            </a:pPr>
            <a:r>
              <a:rPr lang="en-IN" dirty="0"/>
              <a:t>Company category : IT Software/ Embedded</a:t>
            </a:r>
          </a:p>
        </p:txBody>
      </p:sp>
    </p:spTree>
    <p:extLst>
      <p:ext uri="{BB962C8B-B14F-4D97-AF65-F5344CB8AC3E}">
        <p14:creationId xmlns:p14="http://schemas.microsoft.com/office/powerpoint/2010/main" val="38015815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A734BE2-7A95-BB57-E07F-951F99CD5DEC}"/>
              </a:ext>
            </a:extLst>
          </p:cNvPr>
          <p:cNvSpPr>
            <a:spLocks noGrp="1"/>
          </p:cNvSpPr>
          <p:nvPr>
            <p:ph idx="1"/>
          </p:nvPr>
        </p:nvSpPr>
        <p:spPr>
          <a:xfrm>
            <a:off x="1097280" y="609600"/>
            <a:ext cx="10058400" cy="5259494"/>
          </a:xfrm>
        </p:spPr>
        <p:txBody>
          <a:bodyPr>
            <a:normAutofit/>
          </a:bodyPr>
          <a:lstStyle/>
          <a:p>
            <a:endParaRPr lang="en-IN" sz="3200" dirty="0">
              <a:latin typeface="Algerian" panose="04020705040A02060702" pitchFamily="82" charset="0"/>
            </a:endParaRPr>
          </a:p>
          <a:p>
            <a:r>
              <a:rPr lang="en-IN" sz="3200" dirty="0">
                <a:latin typeface="Algerian" panose="04020705040A02060702" pitchFamily="82" charset="0"/>
              </a:rPr>
              <a:t> PROBLEM STATEMENT</a:t>
            </a:r>
          </a:p>
          <a:p>
            <a:pPr marL="0" indent="0">
              <a:buNone/>
            </a:pPr>
            <a:r>
              <a:rPr lang="en-US" dirty="0"/>
              <a:t>  </a:t>
            </a:r>
            <a:r>
              <a:rPr lang="en-US" sz="2400" dirty="0"/>
              <a:t>Healthcare costs vary significantly based on personal attributes and lifestyle choices. Insurance companies and individuals often struggle to anticipate future medical expenses accurately. This project address the challenge of building  a predictive model that can estimate individual medical insurance costs based on input features like age, sex, BMI, number of children, smoking status, and region using machine learning techniques.</a:t>
            </a:r>
          </a:p>
          <a:p>
            <a:pPr marL="0" indent="0">
              <a:buNone/>
            </a:pPr>
            <a:endParaRPr lang="en-IN" dirty="0">
              <a:latin typeface="Algerian" panose="04020705040A02060702" pitchFamily="82" charset="0"/>
            </a:endParaRPr>
          </a:p>
        </p:txBody>
      </p:sp>
    </p:spTree>
    <p:extLst>
      <p:ext uri="{BB962C8B-B14F-4D97-AF65-F5344CB8AC3E}">
        <p14:creationId xmlns:p14="http://schemas.microsoft.com/office/powerpoint/2010/main" val="24249281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A97D0AA-7767-8074-BD59-E01E85E62E68}"/>
              </a:ext>
            </a:extLst>
          </p:cNvPr>
          <p:cNvSpPr>
            <a:spLocks noGrp="1"/>
          </p:cNvSpPr>
          <p:nvPr>
            <p:ph idx="1"/>
          </p:nvPr>
        </p:nvSpPr>
        <p:spPr>
          <a:xfrm>
            <a:off x="1097280" y="426720"/>
            <a:ext cx="10058400" cy="5442374"/>
          </a:xfrm>
        </p:spPr>
        <p:txBody>
          <a:bodyPr>
            <a:normAutofit lnSpcReduction="10000"/>
          </a:bodyPr>
          <a:lstStyle/>
          <a:p>
            <a:endParaRPr lang="en-IN" sz="3200" dirty="0"/>
          </a:p>
          <a:p>
            <a:r>
              <a:rPr lang="en-IN" sz="3200" dirty="0"/>
              <a:t> </a:t>
            </a:r>
            <a:r>
              <a:rPr lang="en-IN" sz="3200" dirty="0">
                <a:latin typeface="Algerian" panose="04020705040A02060702" pitchFamily="82" charset="0"/>
              </a:rPr>
              <a:t>OBJECTIVES</a:t>
            </a:r>
          </a:p>
          <a:p>
            <a:endParaRPr lang="en-IN" sz="1800" dirty="0">
              <a:latin typeface="Algerian" panose="04020705040A02060702" pitchFamily="82" charset="0"/>
            </a:endParaRPr>
          </a:p>
          <a:p>
            <a:pPr>
              <a:buFont typeface="Arial" panose="020B0604020202020204" pitchFamily="34" charset="0"/>
              <a:buChar char="•"/>
            </a:pPr>
            <a:r>
              <a:rPr lang="en-IN" dirty="0"/>
              <a:t> To explore and understand the medical insurance dataset.</a:t>
            </a:r>
          </a:p>
          <a:p>
            <a:pPr>
              <a:buFont typeface="Arial" panose="020B0604020202020204" pitchFamily="34" charset="0"/>
              <a:buChar char="•"/>
            </a:pPr>
            <a:r>
              <a:rPr lang="en-IN" dirty="0"/>
              <a:t> To preprocess the data by handling categorical variables and scaling numeric features.</a:t>
            </a:r>
          </a:p>
          <a:p>
            <a:pPr>
              <a:buFont typeface="Arial" panose="020B0604020202020204" pitchFamily="34" charset="0"/>
              <a:buChar char="•"/>
            </a:pPr>
            <a:r>
              <a:rPr lang="en-IN" dirty="0"/>
              <a:t>To build predictive models using:</a:t>
            </a:r>
          </a:p>
          <a:p>
            <a:pPr>
              <a:buFont typeface="Arial" panose="020B0604020202020204" pitchFamily="34" charset="0"/>
              <a:buChar char="•"/>
            </a:pPr>
            <a:r>
              <a:rPr lang="en-IN" dirty="0"/>
              <a:t> Simple Linear Regression </a:t>
            </a:r>
          </a:p>
          <a:p>
            <a:pPr>
              <a:buFont typeface="Arial" panose="020B0604020202020204" pitchFamily="34" charset="0"/>
              <a:buChar char="•"/>
            </a:pPr>
            <a:r>
              <a:rPr lang="en-IN" dirty="0"/>
              <a:t>Multiple Linear Regression (MLR)</a:t>
            </a:r>
          </a:p>
          <a:p>
            <a:pPr>
              <a:buFont typeface="Arial" panose="020B0604020202020204" pitchFamily="34" charset="0"/>
              <a:buChar char="•"/>
            </a:pPr>
            <a:r>
              <a:rPr lang="en-IN" dirty="0"/>
              <a:t>K-Nearest Neighbours(KNN)</a:t>
            </a:r>
          </a:p>
          <a:p>
            <a:pPr>
              <a:buFont typeface="Arial" panose="020B0604020202020204" pitchFamily="34" charset="0"/>
              <a:buChar char="•"/>
            </a:pPr>
            <a:r>
              <a:rPr lang="en-IN" dirty="0"/>
              <a:t>Support Vector Machine(SVM)</a:t>
            </a:r>
          </a:p>
          <a:p>
            <a:pPr>
              <a:buFont typeface="Arial" panose="020B0604020202020204" pitchFamily="34" charset="0"/>
              <a:buChar char="•"/>
            </a:pPr>
            <a:r>
              <a:rPr lang="en-IN" dirty="0"/>
              <a:t>To evaluate and compare model performance using R2 score and error metrics.</a:t>
            </a:r>
          </a:p>
          <a:p>
            <a:pPr>
              <a:buFont typeface="Arial" panose="020B0604020202020204" pitchFamily="34" charset="0"/>
              <a:buChar char="•"/>
            </a:pPr>
            <a:r>
              <a:rPr lang="en-IN" dirty="0"/>
              <a:t>To identify which features most influence medical costs.</a:t>
            </a:r>
          </a:p>
          <a:p>
            <a:pPr>
              <a:buFont typeface="Arial" panose="020B0604020202020204" pitchFamily="34" charset="0"/>
              <a:buChar char="•"/>
            </a:pPr>
            <a:endParaRPr lang="en-IN" dirty="0"/>
          </a:p>
        </p:txBody>
      </p:sp>
    </p:spTree>
    <p:extLst>
      <p:ext uri="{BB962C8B-B14F-4D97-AF65-F5344CB8AC3E}">
        <p14:creationId xmlns:p14="http://schemas.microsoft.com/office/powerpoint/2010/main" val="25316567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3B50569-1039-19D6-7FCE-854FBE04C675}"/>
              </a:ext>
            </a:extLst>
          </p:cNvPr>
          <p:cNvSpPr>
            <a:spLocks noGrp="1"/>
          </p:cNvSpPr>
          <p:nvPr>
            <p:ph idx="1"/>
          </p:nvPr>
        </p:nvSpPr>
        <p:spPr>
          <a:xfrm>
            <a:off x="1097280" y="518160"/>
            <a:ext cx="10058400" cy="5350934"/>
          </a:xfrm>
        </p:spPr>
        <p:txBody>
          <a:bodyPr>
            <a:normAutofit/>
          </a:bodyPr>
          <a:lstStyle/>
          <a:p>
            <a:endParaRPr lang="en-IN" sz="3200" dirty="0">
              <a:latin typeface="Algerian" panose="04020705040A02060702" pitchFamily="82" charset="0"/>
            </a:endParaRPr>
          </a:p>
          <a:p>
            <a:r>
              <a:rPr lang="en-IN" sz="3200" dirty="0">
                <a:latin typeface="Algerian" panose="04020705040A02060702" pitchFamily="82" charset="0"/>
              </a:rPr>
              <a:t>  Libraries used</a:t>
            </a:r>
          </a:p>
          <a:p>
            <a:pPr marL="285750" indent="-285750" eaLnBrk="0" fontAlgn="base" hangingPunct="0">
              <a:spcBef>
                <a:spcPct val="0"/>
              </a:spcBef>
              <a:spcAft>
                <a:spcPct val="0"/>
              </a:spcAft>
              <a:buClrTx/>
              <a:buSzTx/>
            </a:pPr>
            <a:endParaRPr lang="en-US" altLang="en-US" b="1" dirty="0">
              <a:solidFill>
                <a:schemeClr val="tx1"/>
              </a:solidFill>
              <a:latin typeface="Arial" panose="020B0604020202020204" pitchFamily="34" charset="0"/>
            </a:endParaRPr>
          </a:p>
          <a:p>
            <a:pPr eaLnBrk="0" fontAlgn="base" hangingPunct="0">
              <a:spcBef>
                <a:spcPct val="0"/>
              </a:spcBef>
              <a:spcAft>
                <a:spcPct val="0"/>
              </a:spcAft>
              <a:buClrTx/>
              <a:buSzTx/>
              <a:buFont typeface="Wingdings" panose="05000000000000000000" pitchFamily="2" charset="2"/>
              <a:buChar char="v"/>
            </a:pPr>
            <a:r>
              <a:rPr lang="en-US" altLang="en-US" b="1" dirty="0">
                <a:solidFill>
                  <a:schemeClr val="tx1"/>
                </a:solidFill>
                <a:latin typeface="Arial" panose="020B0604020202020204" pitchFamily="34" charset="0"/>
              </a:rPr>
              <a:t>Pandas</a:t>
            </a:r>
            <a:r>
              <a:rPr lang="en-US" altLang="en-US" dirty="0">
                <a:solidFill>
                  <a:schemeClr val="tx1"/>
                </a:solidFill>
                <a:latin typeface="Arial" panose="020B0604020202020204" pitchFamily="34" charset="0"/>
              </a:rPr>
              <a:t> – For data loading, cleaning, and manipulation.</a:t>
            </a:r>
            <a:endParaRPr lang="en-US" altLang="en-US" b="1" dirty="0">
              <a:solidFill>
                <a:schemeClr val="tx1"/>
              </a:solidFill>
              <a:latin typeface="Arial" panose="020B0604020202020204" pitchFamily="34" charset="0"/>
            </a:endParaRPr>
          </a:p>
          <a:p>
            <a:pPr eaLnBrk="0" fontAlgn="base" hangingPunct="0">
              <a:spcBef>
                <a:spcPct val="0"/>
              </a:spcBef>
              <a:spcAft>
                <a:spcPct val="0"/>
              </a:spcAft>
              <a:buClrTx/>
              <a:buSzTx/>
              <a:buFont typeface="Wingdings" panose="05000000000000000000" pitchFamily="2" charset="2"/>
              <a:buChar char="v"/>
            </a:pPr>
            <a:r>
              <a:rPr lang="en-US" altLang="en-US" b="1" dirty="0">
                <a:solidFill>
                  <a:schemeClr val="tx1"/>
                </a:solidFill>
                <a:latin typeface="Arial" panose="020B0604020202020204" pitchFamily="34" charset="0"/>
              </a:rPr>
              <a:t>NumPy</a:t>
            </a:r>
            <a:r>
              <a:rPr lang="en-US" altLang="en-US" dirty="0">
                <a:solidFill>
                  <a:schemeClr val="tx1"/>
                </a:solidFill>
                <a:latin typeface="Arial" panose="020B0604020202020204" pitchFamily="34" charset="0"/>
              </a:rPr>
              <a:t> – For numerical operations and array handling.</a:t>
            </a:r>
          </a:p>
          <a:p>
            <a:pPr eaLnBrk="0" fontAlgn="base" hangingPunct="0">
              <a:spcBef>
                <a:spcPct val="0"/>
              </a:spcBef>
              <a:spcAft>
                <a:spcPct val="0"/>
              </a:spcAft>
              <a:buClrTx/>
              <a:buSzTx/>
              <a:buFont typeface="Wingdings" panose="05000000000000000000" pitchFamily="2" charset="2"/>
              <a:buChar char="v"/>
            </a:pPr>
            <a:r>
              <a:rPr lang="en-US" altLang="en-US" b="1" dirty="0">
                <a:solidFill>
                  <a:schemeClr val="tx1"/>
                </a:solidFill>
                <a:latin typeface="Arial" panose="020B0604020202020204" pitchFamily="34" charset="0"/>
              </a:rPr>
              <a:t>Matplotlib &amp; Seaborn</a:t>
            </a:r>
            <a:r>
              <a:rPr lang="en-US" altLang="en-US" dirty="0">
                <a:solidFill>
                  <a:schemeClr val="tx1"/>
                </a:solidFill>
                <a:latin typeface="Arial" panose="020B0604020202020204" pitchFamily="34" charset="0"/>
              </a:rPr>
              <a:t> – For data visualization and plotting graphs.</a:t>
            </a:r>
          </a:p>
          <a:p>
            <a:pPr eaLnBrk="0" fontAlgn="base" hangingPunct="0">
              <a:spcBef>
                <a:spcPct val="0"/>
              </a:spcBef>
              <a:spcAft>
                <a:spcPct val="0"/>
              </a:spcAft>
              <a:buClrTx/>
              <a:buSzTx/>
              <a:buFont typeface="Wingdings" panose="05000000000000000000" pitchFamily="2" charset="2"/>
              <a:buChar char="v"/>
            </a:pPr>
            <a:r>
              <a:rPr lang="en-US" altLang="en-US" b="1" dirty="0">
                <a:solidFill>
                  <a:schemeClr val="tx1"/>
                </a:solidFill>
                <a:latin typeface="Arial" panose="020B0604020202020204" pitchFamily="34" charset="0"/>
              </a:rPr>
              <a:t>Scikit-learn (</a:t>
            </a:r>
            <a:r>
              <a:rPr lang="en-US" altLang="en-US" b="1" dirty="0" err="1">
                <a:solidFill>
                  <a:schemeClr val="tx1"/>
                </a:solidFill>
                <a:latin typeface="Arial" panose="020B0604020202020204" pitchFamily="34" charset="0"/>
              </a:rPr>
              <a:t>sklearn</a:t>
            </a:r>
            <a:r>
              <a:rPr lang="en-US" altLang="en-US" b="1" dirty="0">
                <a:solidFill>
                  <a:schemeClr val="tx1"/>
                </a:solidFill>
                <a:latin typeface="Arial" panose="020B0604020202020204" pitchFamily="34" charset="0"/>
              </a:rPr>
              <a:t>)</a:t>
            </a:r>
            <a:r>
              <a:rPr lang="en-US" altLang="en-US" dirty="0">
                <a:solidFill>
                  <a:schemeClr val="tx1"/>
                </a:solidFill>
                <a:latin typeface="Arial" panose="020B0604020202020204" pitchFamily="34" charset="0"/>
              </a:rPr>
              <a:t> – For implementing machine learning models:</a:t>
            </a:r>
          </a:p>
          <a:p>
            <a:pPr marL="457200" lvl="1" indent="0" eaLnBrk="0" fontAlgn="base" hangingPunct="0">
              <a:lnSpc>
                <a:spcPct val="100000"/>
              </a:lnSpc>
              <a:spcBef>
                <a:spcPct val="0"/>
              </a:spcBef>
              <a:spcAft>
                <a:spcPct val="0"/>
              </a:spcAft>
              <a:buClrTx/>
              <a:buFontTx/>
              <a:buChar char="•"/>
            </a:pPr>
            <a:r>
              <a:rPr lang="en-US" altLang="en-US" sz="2000" dirty="0" err="1">
                <a:solidFill>
                  <a:schemeClr val="tx1"/>
                </a:solidFill>
                <a:latin typeface="Arial Unicode MS"/>
              </a:rPr>
              <a:t>KNeighborsClassifier</a:t>
            </a:r>
            <a:r>
              <a:rPr lang="en-US" altLang="en-US" sz="2000" dirty="0">
                <a:solidFill>
                  <a:schemeClr val="tx1"/>
                </a:solidFill>
              </a:rPr>
              <a:t> (KNN)</a:t>
            </a:r>
            <a:endParaRPr lang="en-US" altLang="en-US" sz="2000" dirty="0">
              <a:solidFill>
                <a:schemeClr val="tx1"/>
              </a:solidFill>
              <a:latin typeface="Arial" panose="020B0604020202020204" pitchFamily="34" charset="0"/>
            </a:endParaRPr>
          </a:p>
          <a:p>
            <a:pPr marL="457200" lvl="1" indent="0" eaLnBrk="0" fontAlgn="base" hangingPunct="0">
              <a:lnSpc>
                <a:spcPct val="100000"/>
              </a:lnSpc>
              <a:spcBef>
                <a:spcPct val="0"/>
              </a:spcBef>
              <a:spcAft>
                <a:spcPct val="0"/>
              </a:spcAft>
              <a:buClrTx/>
              <a:buFontTx/>
              <a:buChar char="•"/>
            </a:pPr>
            <a:r>
              <a:rPr lang="en-US" altLang="en-US" sz="2000" dirty="0" err="1">
                <a:solidFill>
                  <a:schemeClr val="tx1"/>
                </a:solidFill>
                <a:latin typeface="Arial Unicode MS"/>
              </a:rPr>
              <a:t>LinearRegression</a:t>
            </a:r>
            <a:r>
              <a:rPr lang="en-US" altLang="en-US" sz="2000" dirty="0">
                <a:solidFill>
                  <a:schemeClr val="tx1"/>
                </a:solidFill>
              </a:rPr>
              <a:t> (SLR)</a:t>
            </a:r>
            <a:endParaRPr lang="en-US" altLang="en-US" sz="2000" dirty="0">
              <a:solidFill>
                <a:schemeClr val="tx1"/>
              </a:solidFill>
              <a:latin typeface="Arial" panose="020B0604020202020204" pitchFamily="34" charset="0"/>
            </a:endParaRPr>
          </a:p>
          <a:p>
            <a:pPr marL="457200" lvl="1" indent="0" eaLnBrk="0" fontAlgn="base" hangingPunct="0">
              <a:lnSpc>
                <a:spcPct val="100000"/>
              </a:lnSpc>
              <a:spcBef>
                <a:spcPct val="0"/>
              </a:spcBef>
              <a:spcAft>
                <a:spcPct val="0"/>
              </a:spcAft>
              <a:buClrTx/>
              <a:buFontTx/>
              <a:buChar char="•"/>
            </a:pPr>
            <a:r>
              <a:rPr lang="en-US" altLang="en-US" sz="2000" dirty="0">
                <a:solidFill>
                  <a:schemeClr val="tx1"/>
                </a:solidFill>
                <a:latin typeface="Arial Unicode MS"/>
              </a:rPr>
              <a:t>SVR</a:t>
            </a:r>
            <a:r>
              <a:rPr lang="en-US" altLang="en-US" sz="2000" dirty="0">
                <a:solidFill>
                  <a:schemeClr val="tx1"/>
                </a:solidFill>
              </a:rPr>
              <a:t> (Support Vector Machine for Regression)</a:t>
            </a:r>
            <a:endParaRPr lang="en-US" altLang="en-US" sz="2000" dirty="0">
              <a:solidFill>
                <a:schemeClr val="tx1"/>
              </a:solidFill>
              <a:latin typeface="Arial" panose="020B0604020202020204" pitchFamily="34" charset="0"/>
            </a:endParaRPr>
          </a:p>
          <a:p>
            <a:pPr marL="457200" lvl="1" indent="0" eaLnBrk="0" fontAlgn="base" hangingPunct="0">
              <a:lnSpc>
                <a:spcPct val="100000"/>
              </a:lnSpc>
              <a:spcBef>
                <a:spcPct val="0"/>
              </a:spcBef>
              <a:spcAft>
                <a:spcPct val="0"/>
              </a:spcAft>
              <a:buClrTx/>
              <a:buFontTx/>
              <a:buChar char="•"/>
            </a:pPr>
            <a:r>
              <a:rPr lang="en-US" altLang="en-US" sz="2000" dirty="0">
                <a:solidFill>
                  <a:schemeClr val="tx1"/>
                </a:solidFill>
                <a:latin typeface="Arial" panose="020B0604020202020204" pitchFamily="34" charset="0"/>
              </a:rPr>
              <a:t>Model evaluation tools (</a:t>
            </a:r>
            <a:r>
              <a:rPr lang="en-US" altLang="en-US" sz="2000" dirty="0" err="1">
                <a:solidFill>
                  <a:schemeClr val="tx1"/>
                </a:solidFill>
                <a:latin typeface="Arial Unicode MS"/>
              </a:rPr>
              <a:t>train_test_split</a:t>
            </a:r>
            <a:r>
              <a:rPr lang="en-US" altLang="en-US" sz="2000" dirty="0">
                <a:solidFill>
                  <a:schemeClr val="tx1"/>
                </a:solidFill>
              </a:rPr>
              <a:t>, </a:t>
            </a:r>
            <a:r>
              <a:rPr lang="en-US" altLang="en-US" sz="2000" dirty="0" err="1">
                <a:solidFill>
                  <a:schemeClr val="tx1"/>
                </a:solidFill>
                <a:latin typeface="Arial Unicode MS"/>
              </a:rPr>
              <a:t>accuracy_score</a:t>
            </a:r>
            <a:r>
              <a:rPr lang="en-US" altLang="en-US" sz="2000" dirty="0">
                <a:solidFill>
                  <a:schemeClr val="tx1"/>
                </a:solidFill>
              </a:rPr>
              <a:t>, </a:t>
            </a:r>
            <a:r>
              <a:rPr lang="en-US" altLang="en-US" sz="2000" dirty="0" err="1">
                <a:solidFill>
                  <a:schemeClr val="tx1"/>
                </a:solidFill>
                <a:latin typeface="Arial Unicode MS"/>
              </a:rPr>
              <a:t>mean_squared_error</a:t>
            </a:r>
            <a:r>
              <a:rPr lang="en-US" altLang="en-US" sz="2000" dirty="0">
                <a:solidFill>
                  <a:schemeClr val="tx1"/>
                </a:solidFill>
              </a:rPr>
              <a:t>, etc.</a:t>
            </a:r>
            <a:endParaRPr lang="en-US" altLang="en-US" sz="2000" dirty="0">
              <a:solidFill>
                <a:schemeClr val="tx1"/>
              </a:solidFill>
              <a:latin typeface="Arial" panose="020B0604020202020204" pitchFamily="34" charset="0"/>
            </a:endParaRPr>
          </a:p>
          <a:p>
            <a:pPr marL="800100" lvl="1" indent="-342900" eaLnBrk="0" fontAlgn="base" hangingPunct="0">
              <a:lnSpc>
                <a:spcPct val="100000"/>
              </a:lnSpc>
              <a:spcBef>
                <a:spcPct val="0"/>
              </a:spcBef>
              <a:spcAft>
                <a:spcPct val="0"/>
              </a:spcAft>
              <a:buClrTx/>
              <a:buFont typeface="Wingdings" panose="05000000000000000000" pitchFamily="2" charset="2"/>
              <a:buChar char="v"/>
            </a:pPr>
            <a:r>
              <a:rPr lang="en-US" altLang="en-US" sz="2000" b="1" dirty="0" err="1">
                <a:solidFill>
                  <a:schemeClr val="tx1"/>
                </a:solidFill>
                <a:latin typeface="Arial" panose="020B0604020202020204" pitchFamily="34" charset="0"/>
              </a:rPr>
              <a:t>KBinsDiscretizer</a:t>
            </a:r>
            <a:r>
              <a:rPr lang="en-US" altLang="en-US" sz="2000" dirty="0">
                <a:solidFill>
                  <a:schemeClr val="tx1"/>
                </a:solidFill>
                <a:latin typeface="Arial" panose="020B0604020202020204" pitchFamily="34" charset="0"/>
              </a:rPr>
              <a:t> – For binning continuous emission values into discrete classes for classification tasks.</a:t>
            </a:r>
          </a:p>
        </p:txBody>
      </p:sp>
    </p:spTree>
    <p:extLst>
      <p:ext uri="{BB962C8B-B14F-4D97-AF65-F5344CB8AC3E}">
        <p14:creationId xmlns:p14="http://schemas.microsoft.com/office/powerpoint/2010/main" val="8175032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
            <a:extLst>
              <a:ext uri="{FF2B5EF4-FFF2-40B4-BE49-F238E27FC236}">
                <a16:creationId xmlns:a16="http://schemas.microsoft.com/office/drawing/2014/main" id="{F5E9FF2F-0173-09B4-AC90-8AB0EBA53D2D}"/>
              </a:ext>
            </a:extLst>
          </p:cNvPr>
          <p:cNvSpPr>
            <a:spLocks noGrp="1" noChangeArrowheads="1"/>
          </p:cNvSpPr>
          <p:nvPr>
            <p:ph idx="1"/>
          </p:nvPr>
        </p:nvSpPr>
        <p:spPr bwMode="auto">
          <a:xfrm>
            <a:off x="1031180" y="1171999"/>
            <a:ext cx="10327507" cy="6463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lang="en-US" altLang="en-US" sz="1800" b="1" dirty="0">
                <a:solidFill>
                  <a:schemeClr val="tx1"/>
                </a:solidFill>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None/>
              <a:tabLst/>
            </a:pPr>
            <a:r>
              <a:rPr lang="en-US" altLang="en-US" sz="1800" b="1" dirty="0">
                <a:solidFill>
                  <a:schemeClr val="tx1"/>
                </a:solidFill>
                <a:latin typeface="Arial" panose="020B0604020202020204" pitchFamily="34" charset="0"/>
              </a:rPr>
              <a:t>FUTURE WORK AND LIMITATIONS:</a:t>
            </a:r>
          </a:p>
          <a:p>
            <a:pPr marL="0" marR="0" lvl="0" indent="0" algn="l" defTabSz="914400" rtl="0" eaLnBrk="0" fontAlgn="base" latinLnBrk="0" hangingPunct="0">
              <a:lnSpc>
                <a:spcPct val="100000"/>
              </a:lnSpc>
              <a:spcBef>
                <a:spcPct val="0"/>
              </a:spcBef>
              <a:spcAft>
                <a:spcPct val="0"/>
              </a:spcAft>
              <a:buClrTx/>
              <a:buSzTx/>
              <a:buNone/>
              <a:tabLst/>
            </a:pPr>
            <a:endParaRPr lang="en-US" altLang="en-US" sz="1800" b="1"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endParaRPr lang="en-US" altLang="en-US" sz="1800" b="1"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Arial" panose="020B0604020202020204" pitchFamily="34" charset="0"/>
              </a:rPr>
              <a:t>.MLR and SVM</a:t>
            </a:r>
            <a:r>
              <a:rPr kumimoji="0" lang="en-US" altLang="en-US" sz="1800" b="0" i="0" u="none" strike="noStrike" cap="none" normalizeH="0" baseline="0" dirty="0">
                <a:ln>
                  <a:noFill/>
                </a:ln>
                <a:solidFill>
                  <a:schemeClr val="tx1"/>
                </a:solidFill>
                <a:effectLst/>
                <a:latin typeface="Arial" panose="020B0604020202020204" pitchFamily="34" charset="0"/>
              </a:rPr>
              <a:t> offer robust predictive capabilities for this kind of data.</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Feature importance</a:t>
            </a:r>
            <a:r>
              <a:rPr kumimoji="0" lang="en-US" altLang="en-US" sz="1800" b="0" i="0" u="none" strike="noStrike" cap="none" normalizeH="0" baseline="0" dirty="0">
                <a:ln>
                  <a:noFill/>
                </a:ln>
                <a:solidFill>
                  <a:schemeClr val="tx1"/>
                </a:solidFill>
                <a:effectLst/>
                <a:latin typeface="Arial" panose="020B0604020202020204" pitchFamily="34" charset="0"/>
              </a:rPr>
              <a:t>: Smoking has the highest correlation with charges, followed by BMI and age.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Model evaluation</a:t>
            </a:r>
            <a:r>
              <a:rPr kumimoji="0" lang="en-US" altLang="en-US" sz="1800" b="0" i="0" u="none" strike="noStrike" cap="none" normalizeH="0" baseline="0" dirty="0">
                <a:ln>
                  <a:noFill/>
                </a:ln>
                <a:solidFill>
                  <a:schemeClr val="tx1"/>
                </a:solidFill>
                <a:effectLst/>
                <a:latin typeface="Arial" panose="020B0604020202020204" pitchFamily="34" charset="0"/>
              </a:rPr>
              <a:t>: Simple metrics like R², MAE, and MSE help to benchmark model effectiveness.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Data preprocessing</a:t>
            </a:r>
            <a:r>
              <a:rPr kumimoji="0" lang="en-US" altLang="en-US" sz="1800" b="0" i="0" u="none" strike="noStrike" cap="none" normalizeH="0" baseline="0" dirty="0">
                <a:ln>
                  <a:noFill/>
                </a:ln>
                <a:solidFill>
                  <a:schemeClr val="tx1"/>
                </a:solidFill>
                <a:effectLst/>
                <a:latin typeface="Arial" panose="020B0604020202020204" pitchFamily="34" charset="0"/>
              </a:rPr>
              <a:t>: Proper encoding and scaling directly impact model performance, especially</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Arial" panose="020B0604020202020204" pitchFamily="34" charset="0"/>
              </a:rPr>
              <a:t> for distance-based or kernel-based methods like KNN and SVM.</a:t>
            </a:r>
          </a:p>
          <a:p>
            <a:pPr marL="0" lvl="0" indent="0" eaLnBrk="0" fontAlgn="base" hangingPunct="0">
              <a:lnSpc>
                <a:spcPct val="100000"/>
              </a:lnSpc>
              <a:spcBef>
                <a:spcPct val="0"/>
              </a:spcBef>
              <a:spcAft>
                <a:spcPct val="0"/>
              </a:spcAft>
              <a:buClrTx/>
              <a:buSzTx/>
              <a:buNone/>
            </a:pPr>
            <a:endParaRPr lang="en-US" altLang="en-US" sz="1800" dirty="0">
              <a:solidFill>
                <a:schemeClr val="tx1"/>
              </a:solidFill>
              <a:latin typeface="Arial" panose="020B0604020202020204" pitchFamily="34" charset="0"/>
            </a:endParaRPr>
          </a:p>
          <a:p>
            <a:pPr marL="0" lvl="0" indent="0" eaLnBrk="0" fontAlgn="base" hangingPunct="0">
              <a:lnSpc>
                <a:spcPct val="100000"/>
              </a:lnSpc>
              <a:spcBef>
                <a:spcPct val="0"/>
              </a:spcBef>
              <a:spcAft>
                <a:spcPct val="0"/>
              </a:spcAft>
              <a:buClrTx/>
              <a:buSzTx/>
              <a:buNone/>
            </a:pPr>
            <a:r>
              <a:rPr lang="en-US" altLang="en-US" sz="1800" dirty="0">
                <a:solidFill>
                  <a:schemeClr val="tx1"/>
                </a:solidFill>
                <a:latin typeface="Arial" panose="020B0604020202020204" pitchFamily="34" charset="0"/>
              </a:rPr>
              <a:t>Apply </a:t>
            </a:r>
            <a:r>
              <a:rPr lang="en-US" altLang="en-US" sz="1800" b="1" dirty="0">
                <a:solidFill>
                  <a:schemeClr val="tx1"/>
                </a:solidFill>
                <a:latin typeface="Arial" panose="020B0604020202020204" pitchFamily="34" charset="0"/>
              </a:rPr>
              <a:t>ensemble models</a:t>
            </a:r>
            <a:r>
              <a:rPr lang="en-US" altLang="en-US" sz="1800" dirty="0">
                <a:solidFill>
                  <a:schemeClr val="tx1"/>
                </a:solidFill>
                <a:latin typeface="Arial" panose="020B0604020202020204" pitchFamily="34" charset="0"/>
              </a:rPr>
              <a:t> like Random Forest or </a:t>
            </a:r>
            <a:r>
              <a:rPr lang="en-US" altLang="en-US" sz="1800" dirty="0" err="1">
                <a:solidFill>
                  <a:schemeClr val="tx1"/>
                </a:solidFill>
                <a:latin typeface="Arial" panose="020B0604020202020204" pitchFamily="34" charset="0"/>
              </a:rPr>
              <a:t>XGBoost</a:t>
            </a:r>
            <a:r>
              <a:rPr lang="en-US" altLang="en-US" sz="1800" dirty="0">
                <a:solidFill>
                  <a:schemeClr val="tx1"/>
                </a:solidFill>
                <a:latin typeface="Arial" panose="020B0604020202020204" pitchFamily="34" charset="0"/>
              </a:rPr>
              <a:t> for better generalization.</a:t>
            </a:r>
          </a:p>
          <a:p>
            <a:pPr marL="0" lvl="0" indent="0" eaLnBrk="0" fontAlgn="base" hangingPunct="0">
              <a:lnSpc>
                <a:spcPct val="100000"/>
              </a:lnSpc>
              <a:spcBef>
                <a:spcPct val="0"/>
              </a:spcBef>
              <a:spcAft>
                <a:spcPct val="0"/>
              </a:spcAft>
              <a:buClrTx/>
              <a:buSzTx/>
              <a:buFontTx/>
              <a:buChar char="•"/>
            </a:pPr>
            <a:r>
              <a:rPr lang="en-US" altLang="en-US" sz="1800" dirty="0">
                <a:solidFill>
                  <a:schemeClr val="tx1"/>
                </a:solidFill>
                <a:latin typeface="Arial" panose="020B0604020202020204" pitchFamily="34" charset="0"/>
              </a:rPr>
              <a:t>Perform </a:t>
            </a:r>
            <a:r>
              <a:rPr lang="en-US" altLang="en-US" sz="1800" b="1" dirty="0">
                <a:solidFill>
                  <a:schemeClr val="tx1"/>
                </a:solidFill>
                <a:latin typeface="Arial" panose="020B0604020202020204" pitchFamily="34" charset="0"/>
              </a:rPr>
              <a:t>hyperparameter tuning</a:t>
            </a:r>
            <a:r>
              <a:rPr lang="en-US" altLang="en-US" sz="1800" dirty="0">
                <a:solidFill>
                  <a:schemeClr val="tx1"/>
                </a:solidFill>
                <a:latin typeface="Arial" panose="020B0604020202020204" pitchFamily="34" charset="0"/>
              </a:rPr>
              <a:t> using </a:t>
            </a:r>
            <a:r>
              <a:rPr lang="en-US" altLang="en-US" sz="1800" dirty="0" err="1">
                <a:solidFill>
                  <a:schemeClr val="tx1"/>
                </a:solidFill>
                <a:latin typeface="Arial" panose="020B0604020202020204" pitchFamily="34" charset="0"/>
              </a:rPr>
              <a:t>GridSearchCV</a:t>
            </a:r>
            <a:r>
              <a:rPr lang="en-US" altLang="en-US" sz="1800" dirty="0">
                <a:solidFill>
                  <a:schemeClr val="tx1"/>
                </a:solidFill>
                <a:latin typeface="Arial" panose="020B0604020202020204" pitchFamily="34" charset="0"/>
              </a:rPr>
              <a:t> for SVM and KNN.</a:t>
            </a:r>
          </a:p>
          <a:p>
            <a:pPr marL="0" lvl="0" indent="0" eaLnBrk="0" fontAlgn="base" hangingPunct="0">
              <a:lnSpc>
                <a:spcPct val="100000"/>
              </a:lnSpc>
              <a:spcBef>
                <a:spcPct val="0"/>
              </a:spcBef>
              <a:spcAft>
                <a:spcPct val="0"/>
              </a:spcAft>
              <a:buClrTx/>
              <a:buSzTx/>
              <a:buFontTx/>
              <a:buChar char="•"/>
            </a:pPr>
            <a:r>
              <a:rPr lang="en-US" altLang="en-US" sz="1800" dirty="0">
                <a:solidFill>
                  <a:schemeClr val="tx1"/>
                </a:solidFill>
                <a:latin typeface="Arial" panose="020B0604020202020204" pitchFamily="34" charset="0"/>
              </a:rPr>
              <a:t>Add </a:t>
            </a:r>
            <a:r>
              <a:rPr lang="en-US" altLang="en-US" sz="1800" b="1" dirty="0">
                <a:solidFill>
                  <a:schemeClr val="tx1"/>
                </a:solidFill>
                <a:latin typeface="Arial" panose="020B0604020202020204" pitchFamily="34" charset="0"/>
              </a:rPr>
              <a:t>cross-validation</a:t>
            </a:r>
            <a:r>
              <a:rPr lang="en-US" altLang="en-US" sz="1800" dirty="0">
                <a:solidFill>
                  <a:schemeClr val="tx1"/>
                </a:solidFill>
                <a:latin typeface="Arial" panose="020B0604020202020204" pitchFamily="34" charset="0"/>
              </a:rPr>
              <a:t> to increase model reliability.</a:t>
            </a:r>
          </a:p>
          <a:p>
            <a:pPr marL="0" lvl="0" indent="0" eaLnBrk="0" fontAlgn="base" hangingPunct="0">
              <a:lnSpc>
                <a:spcPct val="100000"/>
              </a:lnSpc>
              <a:spcBef>
                <a:spcPct val="0"/>
              </a:spcBef>
              <a:spcAft>
                <a:spcPct val="0"/>
              </a:spcAft>
              <a:buClrTx/>
              <a:buSzTx/>
              <a:buFontTx/>
              <a:buChar char="•"/>
            </a:pPr>
            <a:r>
              <a:rPr lang="en-US" altLang="en-US" sz="1800" dirty="0">
                <a:solidFill>
                  <a:schemeClr val="tx1"/>
                </a:solidFill>
                <a:latin typeface="Arial" panose="020B0604020202020204" pitchFamily="34" charset="0"/>
              </a:rPr>
              <a:t>Deploy the final model as a </a:t>
            </a:r>
            <a:r>
              <a:rPr lang="en-US" altLang="en-US" sz="1800" b="1" dirty="0">
                <a:solidFill>
                  <a:schemeClr val="tx1"/>
                </a:solidFill>
                <a:latin typeface="Arial" panose="020B0604020202020204" pitchFamily="34" charset="0"/>
              </a:rPr>
              <a:t>web-based cost estimation tool</a:t>
            </a:r>
            <a:r>
              <a:rPr lang="en-US" altLang="en-US" sz="1800" dirty="0">
                <a:solidFill>
                  <a:schemeClr val="tx1"/>
                </a:solidFill>
                <a:latin typeface="Arial" panose="020B0604020202020204" pitchFamily="34" charset="0"/>
              </a:rPr>
              <a:t> using Flask or </a:t>
            </a:r>
            <a:r>
              <a:rPr lang="en-US" altLang="en-US" sz="1800" dirty="0" err="1">
                <a:solidFill>
                  <a:schemeClr val="tx1"/>
                </a:solidFill>
                <a:latin typeface="Arial" panose="020B0604020202020204" pitchFamily="34" charset="0"/>
              </a:rPr>
              <a:t>Streamlit</a:t>
            </a:r>
            <a:r>
              <a:rPr lang="en-US" altLang="en-US" sz="1800" dirty="0">
                <a:solidFill>
                  <a:schemeClr val="tx1"/>
                </a:solidFill>
                <a:latin typeface="Arial" panose="020B0604020202020204" pitchFamily="34" charset="0"/>
              </a:rPr>
              <a:t>.</a:t>
            </a:r>
          </a:p>
          <a:p>
            <a:pPr marL="0" lvl="0" indent="0" eaLnBrk="0" fontAlgn="base" hangingPunct="0">
              <a:lnSpc>
                <a:spcPct val="100000"/>
              </a:lnSpc>
              <a:spcBef>
                <a:spcPct val="0"/>
              </a:spcBef>
              <a:spcAft>
                <a:spcPct val="0"/>
              </a:spcAft>
              <a:buClrTx/>
              <a:buSzTx/>
              <a:buFontTx/>
              <a:buChar char="•"/>
            </a:pPr>
            <a:r>
              <a:rPr lang="en-US" altLang="en-US" sz="1800" dirty="0">
                <a:solidFill>
                  <a:schemeClr val="tx1"/>
                </a:solidFill>
                <a:latin typeface="Arial" panose="020B0604020202020204" pitchFamily="34" charset="0"/>
              </a:rPr>
              <a:t>Use a larger and more diverse dataset to improve model robustness.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endParaRPr lang="en-US" altLang="en-US" sz="1800"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endParaRPr lang="en-US" altLang="en-US" sz="1800"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5821367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52570A7-2161-72E5-2997-69C6FE5EC4A0}"/>
              </a:ext>
            </a:extLst>
          </p:cNvPr>
          <p:cNvSpPr>
            <a:spLocks noGrp="1"/>
          </p:cNvSpPr>
          <p:nvPr>
            <p:ph idx="1"/>
          </p:nvPr>
        </p:nvSpPr>
        <p:spPr>
          <a:xfrm>
            <a:off x="1097280" y="731520"/>
            <a:ext cx="10058400" cy="5137574"/>
          </a:xfrm>
        </p:spPr>
        <p:txBody>
          <a:bodyPr>
            <a:normAutofit fontScale="92500" lnSpcReduction="10000"/>
          </a:bodyPr>
          <a:lstStyle/>
          <a:p>
            <a:endParaRPr lang="en-IN" sz="3200" dirty="0">
              <a:latin typeface="Algerian" panose="04020705040A02060702" pitchFamily="82" charset="0"/>
            </a:endParaRPr>
          </a:p>
          <a:p>
            <a:r>
              <a:rPr lang="en-IN" sz="3200" dirty="0">
                <a:latin typeface="Algerian" panose="04020705040A02060702" pitchFamily="82" charset="0"/>
              </a:rPr>
              <a:t> Implementation</a:t>
            </a:r>
          </a:p>
          <a:p>
            <a:pPr marL="36900" indent="0">
              <a:buNone/>
            </a:pPr>
            <a:r>
              <a:rPr lang="en-IN" dirty="0"/>
              <a:t># Importing necessary libraries</a:t>
            </a:r>
          </a:p>
          <a:p>
            <a:pPr marL="36900" indent="0">
              <a:buNone/>
            </a:pPr>
            <a:r>
              <a:rPr lang="en-IN" dirty="0"/>
              <a:t>import pandas as pd</a:t>
            </a:r>
          </a:p>
          <a:p>
            <a:pPr marL="36900" indent="0">
              <a:buNone/>
            </a:pPr>
            <a:r>
              <a:rPr lang="en-IN" dirty="0"/>
              <a:t>from </a:t>
            </a:r>
            <a:r>
              <a:rPr lang="en-IN" dirty="0" err="1"/>
              <a:t>sklearn.model_selection</a:t>
            </a:r>
            <a:r>
              <a:rPr lang="en-IN" dirty="0"/>
              <a:t> import </a:t>
            </a:r>
            <a:r>
              <a:rPr lang="en-IN" dirty="0" err="1"/>
              <a:t>train_test_split</a:t>
            </a:r>
            <a:endParaRPr lang="en-IN" dirty="0"/>
          </a:p>
          <a:p>
            <a:pPr marL="36900" indent="0">
              <a:buNone/>
            </a:pPr>
            <a:r>
              <a:rPr lang="en-IN" dirty="0"/>
              <a:t>from </a:t>
            </a:r>
            <a:r>
              <a:rPr lang="en-IN" dirty="0" err="1"/>
              <a:t>sklearn.preprocessing</a:t>
            </a:r>
            <a:r>
              <a:rPr lang="en-IN" dirty="0"/>
              <a:t> import </a:t>
            </a:r>
            <a:r>
              <a:rPr lang="en-IN" dirty="0" err="1"/>
              <a:t>KBinsDiscretizer</a:t>
            </a:r>
            <a:endParaRPr lang="en-IN" dirty="0"/>
          </a:p>
          <a:p>
            <a:pPr marL="36900" indent="0">
              <a:buNone/>
            </a:pPr>
            <a:r>
              <a:rPr lang="en-IN" dirty="0"/>
              <a:t>from </a:t>
            </a:r>
            <a:r>
              <a:rPr lang="en-IN" dirty="0" err="1"/>
              <a:t>sklearn.linear_model</a:t>
            </a:r>
            <a:r>
              <a:rPr lang="en-IN" dirty="0"/>
              <a:t> import </a:t>
            </a:r>
            <a:r>
              <a:rPr lang="en-IN" dirty="0" err="1"/>
              <a:t>LinearRegression</a:t>
            </a:r>
            <a:endParaRPr lang="en-IN" dirty="0"/>
          </a:p>
          <a:p>
            <a:pPr marL="36900" indent="0">
              <a:buNone/>
            </a:pPr>
            <a:r>
              <a:rPr lang="en-IN" dirty="0"/>
              <a:t>from </a:t>
            </a:r>
            <a:r>
              <a:rPr lang="en-IN" dirty="0" err="1"/>
              <a:t>sklearn.svm</a:t>
            </a:r>
            <a:r>
              <a:rPr lang="en-IN" dirty="0"/>
              <a:t> import SVR</a:t>
            </a:r>
          </a:p>
          <a:p>
            <a:pPr marL="36900" indent="0">
              <a:buNone/>
            </a:pPr>
            <a:r>
              <a:rPr lang="en-IN" dirty="0"/>
              <a:t>from </a:t>
            </a:r>
            <a:r>
              <a:rPr lang="en-IN" dirty="0" err="1"/>
              <a:t>sklearn.neighbors</a:t>
            </a:r>
            <a:r>
              <a:rPr lang="en-IN" dirty="0"/>
              <a:t> import </a:t>
            </a:r>
            <a:r>
              <a:rPr lang="en-IN" dirty="0" err="1"/>
              <a:t>KNeighborsClassifier</a:t>
            </a:r>
            <a:endParaRPr lang="en-IN" dirty="0"/>
          </a:p>
          <a:p>
            <a:pPr marL="36900" indent="0">
              <a:buNone/>
            </a:pPr>
            <a:r>
              <a:rPr lang="en-IN" dirty="0"/>
              <a:t>from </a:t>
            </a:r>
            <a:r>
              <a:rPr lang="en-IN" dirty="0" err="1"/>
              <a:t>sklearn.tree</a:t>
            </a:r>
            <a:r>
              <a:rPr lang="en-IN" dirty="0"/>
              <a:t> import </a:t>
            </a:r>
            <a:r>
              <a:rPr lang="en-IN" dirty="0" err="1"/>
              <a:t>DecisionTreeClassifier</a:t>
            </a:r>
            <a:endParaRPr lang="en-IN" dirty="0"/>
          </a:p>
          <a:p>
            <a:pPr marL="36900" indent="0">
              <a:buNone/>
            </a:pPr>
            <a:r>
              <a:rPr lang="en-IN" dirty="0"/>
              <a:t>from </a:t>
            </a:r>
            <a:r>
              <a:rPr lang="en-IN" dirty="0" err="1"/>
              <a:t>sklearn.metrics</a:t>
            </a:r>
            <a:r>
              <a:rPr lang="en-IN" dirty="0"/>
              <a:t> import </a:t>
            </a:r>
            <a:r>
              <a:rPr lang="en-IN" dirty="0" err="1"/>
              <a:t>accuracy_score</a:t>
            </a:r>
            <a:r>
              <a:rPr lang="en-IN" dirty="0"/>
              <a:t>, </a:t>
            </a:r>
            <a:r>
              <a:rPr lang="en-IN" dirty="0" err="1"/>
              <a:t>mean_squared_error</a:t>
            </a:r>
            <a:r>
              <a:rPr lang="en-IN" dirty="0"/>
              <a:t>, r2_score, </a:t>
            </a:r>
            <a:r>
              <a:rPr lang="en-IN" dirty="0" err="1"/>
              <a:t>classification_report</a:t>
            </a:r>
            <a:r>
              <a:rPr lang="en-IN" dirty="0"/>
              <a:t>, </a:t>
            </a:r>
            <a:r>
              <a:rPr lang="en-IN" dirty="0" err="1"/>
              <a:t>confusion_matrix</a:t>
            </a:r>
            <a:r>
              <a:rPr lang="en-IN" dirty="0"/>
              <a:t>.</a:t>
            </a:r>
          </a:p>
          <a:p>
            <a:pPr marL="36900" indent="0">
              <a:buNone/>
            </a:pPr>
            <a:endParaRPr lang="en-IN" dirty="0"/>
          </a:p>
          <a:p>
            <a:pPr marL="36900" indent="0">
              <a:buNone/>
            </a:pPr>
            <a:endParaRPr lang="en-IN" dirty="0"/>
          </a:p>
          <a:p>
            <a:endParaRPr lang="en-IN" dirty="0"/>
          </a:p>
        </p:txBody>
      </p:sp>
    </p:spTree>
    <p:extLst>
      <p:ext uri="{BB962C8B-B14F-4D97-AF65-F5344CB8AC3E}">
        <p14:creationId xmlns:p14="http://schemas.microsoft.com/office/powerpoint/2010/main" val="28830477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3A97B3E-D4F9-09C3-916E-138B0FD17F98}"/>
              </a:ext>
            </a:extLst>
          </p:cNvPr>
          <p:cNvSpPr>
            <a:spLocks noGrp="1"/>
          </p:cNvSpPr>
          <p:nvPr>
            <p:ph idx="1"/>
          </p:nvPr>
        </p:nvSpPr>
        <p:spPr>
          <a:xfrm>
            <a:off x="1097280" y="609600"/>
            <a:ext cx="10058400" cy="5259494"/>
          </a:xfrm>
        </p:spPr>
        <p:txBody>
          <a:bodyPr>
            <a:normAutofit fontScale="47500" lnSpcReduction="20000"/>
          </a:bodyPr>
          <a:lstStyle/>
          <a:p>
            <a:pPr marL="0" indent="0">
              <a:buNone/>
            </a:pPr>
            <a:r>
              <a:rPr lang="en-IN" sz="3700" dirty="0"/>
              <a:t>  #Load dataset </a:t>
            </a:r>
          </a:p>
          <a:p>
            <a:r>
              <a:rPr lang="en-IN" sz="3700" dirty="0" err="1"/>
              <a:t>df</a:t>
            </a:r>
            <a:r>
              <a:rPr lang="en-IN" sz="3700" dirty="0"/>
              <a:t>=</a:t>
            </a:r>
            <a:r>
              <a:rPr lang="en-IN" sz="3700" dirty="0" err="1"/>
              <a:t>pd.read_csv</a:t>
            </a:r>
            <a:r>
              <a:rPr lang="en-IN" sz="3700" dirty="0"/>
              <a:t>("/content/Medicalpremium.csv")</a:t>
            </a:r>
          </a:p>
          <a:p>
            <a:r>
              <a:rPr lang="en-IN" sz="3700" dirty="0" err="1"/>
              <a:t>df.head</a:t>
            </a:r>
            <a:r>
              <a:rPr lang="en-IN" sz="3700" dirty="0"/>
              <a:t>()</a:t>
            </a:r>
          </a:p>
          <a:p>
            <a:r>
              <a:rPr lang="en-IN" sz="3700" dirty="0" err="1"/>
              <a:t>df.shape</a:t>
            </a:r>
            <a:endParaRPr lang="en-IN" sz="3700" dirty="0"/>
          </a:p>
          <a:p>
            <a:r>
              <a:rPr lang="en-IN" sz="3700" dirty="0"/>
              <a:t>df.info()</a:t>
            </a:r>
          </a:p>
          <a:p>
            <a:r>
              <a:rPr lang="en-IN" sz="3700" dirty="0" err="1"/>
              <a:t>df.describe</a:t>
            </a:r>
            <a:r>
              <a:rPr lang="en-IN" sz="3700" dirty="0"/>
              <a:t>()</a:t>
            </a:r>
          </a:p>
          <a:p>
            <a:r>
              <a:rPr lang="en-IN" sz="3700" dirty="0" err="1"/>
              <a:t>df.isna</a:t>
            </a:r>
            <a:r>
              <a:rPr lang="en-IN" sz="3700" dirty="0"/>
              <a:t>().sum()</a:t>
            </a:r>
          </a:p>
          <a:p>
            <a:r>
              <a:rPr lang="en-IN" sz="4200" dirty="0">
                <a:latin typeface="Algerian" panose="04020705040A02060702" pitchFamily="82" charset="0"/>
              </a:rPr>
              <a:t># SINGLE LINEAR REGRESSION (“SLR")</a:t>
            </a:r>
          </a:p>
          <a:p>
            <a:pPr marL="0" indent="0">
              <a:buNone/>
            </a:pPr>
            <a:r>
              <a:rPr lang="en-IN" sz="3300" dirty="0"/>
              <a:t>from </a:t>
            </a:r>
            <a:r>
              <a:rPr lang="en-IN" sz="3300" dirty="0" err="1"/>
              <a:t>sklearn.preprocessing</a:t>
            </a:r>
            <a:r>
              <a:rPr lang="en-IN" sz="3300" dirty="0"/>
              <a:t> import </a:t>
            </a:r>
            <a:r>
              <a:rPr lang="en-IN" sz="3300" dirty="0" err="1"/>
              <a:t>LabelEncoder</a:t>
            </a:r>
            <a:endParaRPr lang="en-IN" sz="3300" dirty="0"/>
          </a:p>
          <a:p>
            <a:r>
              <a:rPr lang="en-IN" sz="3300" dirty="0"/>
              <a:t>le=</a:t>
            </a:r>
            <a:r>
              <a:rPr lang="en-IN" sz="3300" dirty="0" err="1"/>
              <a:t>LabelEncoder</a:t>
            </a:r>
            <a:r>
              <a:rPr lang="en-IN" sz="3300" dirty="0"/>
              <a:t>()</a:t>
            </a:r>
          </a:p>
          <a:p>
            <a:r>
              <a:rPr lang="en-IN" sz="3300" dirty="0"/>
              <a:t>cols = ["Age",  "Diabetes", "</a:t>
            </a:r>
            <a:r>
              <a:rPr lang="en-IN" sz="3300" dirty="0" err="1"/>
              <a:t>BloodPressureProblems</a:t>
            </a:r>
            <a:r>
              <a:rPr lang="en-IN" sz="3300" dirty="0"/>
              <a:t>",  "</a:t>
            </a:r>
            <a:r>
              <a:rPr lang="en-IN" sz="3300" dirty="0" err="1"/>
              <a:t>AnyTransplants</a:t>
            </a:r>
            <a:r>
              <a:rPr lang="en-IN" sz="3300" dirty="0"/>
              <a:t>", "</a:t>
            </a:r>
            <a:r>
              <a:rPr lang="en-IN" sz="3300" dirty="0" err="1"/>
              <a:t>AnyChronicDiseases</a:t>
            </a:r>
            <a:r>
              <a:rPr lang="en-IN" sz="3300" dirty="0"/>
              <a:t>", "Height"  ,"Weight",  "</a:t>
            </a:r>
            <a:r>
              <a:rPr lang="en-IN" sz="3300" dirty="0" err="1"/>
              <a:t>KnownAllergies</a:t>
            </a:r>
            <a:r>
              <a:rPr lang="en-IN" sz="3300" dirty="0"/>
              <a:t>"  ,"</a:t>
            </a:r>
            <a:r>
              <a:rPr lang="en-IN" sz="3300" dirty="0" err="1"/>
              <a:t>HistoryOfCancerInFamily</a:t>
            </a:r>
            <a:r>
              <a:rPr lang="en-IN" sz="3300" dirty="0"/>
              <a:t>"  ,"</a:t>
            </a:r>
            <a:r>
              <a:rPr lang="en-IN" sz="3300" dirty="0" err="1"/>
              <a:t>NumberOfMajorSurgeries</a:t>
            </a:r>
            <a:r>
              <a:rPr lang="en-IN" sz="3300" dirty="0"/>
              <a:t>" ,"</a:t>
            </a:r>
            <a:r>
              <a:rPr lang="en-IN" sz="3300" dirty="0" err="1"/>
              <a:t>PremiumPrice</a:t>
            </a:r>
            <a:r>
              <a:rPr lang="en-IN" sz="3300" dirty="0"/>
              <a:t>"]</a:t>
            </a:r>
          </a:p>
          <a:p>
            <a:r>
              <a:rPr lang="en-IN" sz="3300" dirty="0"/>
              <a:t>for f in cols:</a:t>
            </a:r>
          </a:p>
          <a:p>
            <a:r>
              <a:rPr lang="en-IN" sz="3300" dirty="0"/>
              <a:t>  </a:t>
            </a:r>
            <a:r>
              <a:rPr lang="en-IN" sz="3300" dirty="0" err="1"/>
              <a:t>df</a:t>
            </a:r>
            <a:r>
              <a:rPr lang="en-IN" sz="3300" dirty="0"/>
              <a:t>[f]=</a:t>
            </a:r>
            <a:r>
              <a:rPr lang="en-IN" sz="3300" dirty="0" err="1"/>
              <a:t>le.fit_transform</a:t>
            </a:r>
            <a:r>
              <a:rPr lang="en-IN" sz="3300" dirty="0"/>
              <a:t>(</a:t>
            </a:r>
            <a:r>
              <a:rPr lang="en-IN" sz="3300" dirty="0" err="1"/>
              <a:t>df</a:t>
            </a:r>
            <a:r>
              <a:rPr lang="en-IN" sz="3300" dirty="0"/>
              <a:t>[f])</a:t>
            </a:r>
          </a:p>
          <a:p>
            <a:r>
              <a:rPr lang="en-IN" sz="3300" dirty="0" err="1"/>
              <a:t>df.head</a:t>
            </a:r>
            <a:r>
              <a:rPr lang="en-IN" sz="3300" dirty="0"/>
              <a:t>()</a:t>
            </a:r>
          </a:p>
          <a:p>
            <a:endParaRPr lang="en-IN" dirty="0"/>
          </a:p>
        </p:txBody>
      </p:sp>
    </p:spTree>
    <p:extLst>
      <p:ext uri="{BB962C8B-B14F-4D97-AF65-F5344CB8AC3E}">
        <p14:creationId xmlns:p14="http://schemas.microsoft.com/office/powerpoint/2010/main" val="10620015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47471CAC-D3B6-AC89-4901-3864D9C618B7}"/>
              </a:ext>
            </a:extLst>
          </p:cNvPr>
          <p:cNvSpPr>
            <a:spLocks noGrp="1"/>
          </p:cNvSpPr>
          <p:nvPr>
            <p:ph idx="1"/>
          </p:nvPr>
        </p:nvSpPr>
        <p:spPr>
          <a:xfrm>
            <a:off x="1097280" y="563880"/>
            <a:ext cx="10058400" cy="5305214"/>
          </a:xfrm>
        </p:spPr>
        <p:txBody>
          <a:bodyPr>
            <a:normAutofit fontScale="70000" lnSpcReduction="20000"/>
          </a:bodyPr>
          <a:lstStyle/>
          <a:p>
            <a:endParaRPr lang="en-IN" dirty="0"/>
          </a:p>
          <a:p>
            <a:endParaRPr lang="en-IN" dirty="0"/>
          </a:p>
          <a:p>
            <a:endParaRPr lang="en-IN" dirty="0"/>
          </a:p>
          <a:p>
            <a:endParaRPr lang="en-IN" dirty="0"/>
          </a:p>
          <a:p>
            <a:r>
              <a:rPr lang="en-IN" dirty="0" err="1"/>
              <a:t>df.corr</a:t>
            </a:r>
            <a:r>
              <a:rPr lang="en-IN" dirty="0"/>
              <a:t>()</a:t>
            </a:r>
          </a:p>
          <a:p>
            <a:r>
              <a:rPr lang="en-US" dirty="0"/>
              <a:t>x = </a:t>
            </a:r>
            <a:r>
              <a:rPr lang="en-US" dirty="0" err="1"/>
              <a:t>df</a:t>
            </a:r>
            <a:r>
              <a:rPr lang="en-US" dirty="0"/>
              <a:t>[["</a:t>
            </a:r>
            <a:r>
              <a:rPr lang="en-US" dirty="0" err="1"/>
              <a:t>AnyTransplants</a:t>
            </a:r>
            <a:r>
              <a:rPr lang="en-US" dirty="0"/>
              <a:t>","</a:t>
            </a:r>
            <a:r>
              <a:rPr lang="en-US" dirty="0" err="1"/>
              <a:t>AnyChronicDiseases</a:t>
            </a:r>
            <a:r>
              <a:rPr lang="en-US" dirty="0"/>
              <a:t>" ,"Height" ,"Weight"]]</a:t>
            </a:r>
          </a:p>
          <a:p>
            <a:r>
              <a:rPr lang="en-US" dirty="0"/>
              <a:t>y = </a:t>
            </a:r>
            <a:r>
              <a:rPr lang="en-US" dirty="0" err="1"/>
              <a:t>df</a:t>
            </a:r>
            <a:r>
              <a:rPr lang="en-US" dirty="0"/>
              <a:t>["</a:t>
            </a:r>
            <a:r>
              <a:rPr lang="en-US" dirty="0" err="1"/>
              <a:t>PremiumPrice</a:t>
            </a:r>
            <a:r>
              <a:rPr lang="en-US" dirty="0"/>
              <a:t>"]</a:t>
            </a:r>
          </a:p>
          <a:p>
            <a:r>
              <a:rPr lang="en-IN" dirty="0"/>
              <a:t>from </a:t>
            </a:r>
            <a:r>
              <a:rPr lang="en-IN" dirty="0" err="1"/>
              <a:t>sklearn.model_selection</a:t>
            </a:r>
            <a:r>
              <a:rPr lang="en-IN" dirty="0"/>
              <a:t> import </a:t>
            </a:r>
            <a:r>
              <a:rPr lang="en-IN" dirty="0" err="1"/>
              <a:t>train_test_split</a:t>
            </a:r>
            <a:endParaRPr lang="en-IN" dirty="0"/>
          </a:p>
          <a:p>
            <a:r>
              <a:rPr lang="en-IN" dirty="0" err="1"/>
              <a:t>x_train,x_test,y_train,y_test</a:t>
            </a:r>
            <a:r>
              <a:rPr lang="en-IN" dirty="0"/>
              <a:t>=</a:t>
            </a:r>
            <a:r>
              <a:rPr lang="en-IN" dirty="0" err="1"/>
              <a:t>train_test_split</a:t>
            </a:r>
            <a:r>
              <a:rPr lang="en-IN" dirty="0"/>
              <a:t>(</a:t>
            </a:r>
            <a:r>
              <a:rPr lang="en-IN" dirty="0" err="1"/>
              <a:t>x,y,test_size</a:t>
            </a:r>
            <a:r>
              <a:rPr lang="en-IN" dirty="0"/>
              <a:t>=0.2,random_state=42)</a:t>
            </a:r>
          </a:p>
          <a:p>
            <a:r>
              <a:rPr lang="en-IN" dirty="0"/>
              <a:t>from </a:t>
            </a:r>
            <a:r>
              <a:rPr lang="en-IN" dirty="0" err="1"/>
              <a:t>sklearn.linear_model</a:t>
            </a:r>
            <a:r>
              <a:rPr lang="en-IN" dirty="0"/>
              <a:t> import </a:t>
            </a:r>
            <a:r>
              <a:rPr lang="en-IN" dirty="0" err="1"/>
              <a:t>LinearRegression</a:t>
            </a:r>
            <a:endParaRPr lang="en-IN" dirty="0"/>
          </a:p>
          <a:p>
            <a:r>
              <a:rPr lang="en-IN" dirty="0" err="1"/>
              <a:t>slr</a:t>
            </a:r>
            <a:r>
              <a:rPr lang="en-IN" dirty="0"/>
              <a:t>=</a:t>
            </a:r>
            <a:r>
              <a:rPr lang="en-IN" dirty="0" err="1"/>
              <a:t>LinearRegression</a:t>
            </a:r>
            <a:r>
              <a:rPr lang="en-IN" dirty="0"/>
              <a:t>()</a:t>
            </a:r>
          </a:p>
          <a:p>
            <a:r>
              <a:rPr lang="en-IN" dirty="0" err="1"/>
              <a:t>slr.fit</a:t>
            </a:r>
            <a:r>
              <a:rPr lang="en-IN" dirty="0"/>
              <a:t>(</a:t>
            </a:r>
            <a:r>
              <a:rPr lang="en-IN" dirty="0" err="1"/>
              <a:t>x_train,y_train</a:t>
            </a:r>
            <a:r>
              <a:rPr lang="en-IN" dirty="0"/>
              <a:t>)</a:t>
            </a:r>
          </a:p>
          <a:p>
            <a:r>
              <a:rPr lang="en-IN" dirty="0" err="1"/>
              <a:t>slr.coef</a:t>
            </a:r>
            <a:r>
              <a:rPr lang="en-IN" dirty="0"/>
              <a:t>_</a:t>
            </a:r>
          </a:p>
          <a:p>
            <a:r>
              <a:rPr lang="en-IN" dirty="0" err="1"/>
              <a:t>slr.intercept</a:t>
            </a:r>
            <a:r>
              <a:rPr lang="en-IN" dirty="0"/>
              <a:t>_   </a:t>
            </a:r>
          </a:p>
          <a:p>
            <a:r>
              <a:rPr lang="en-US" dirty="0" err="1"/>
              <a:t>ypred</a:t>
            </a:r>
            <a:r>
              <a:rPr lang="en-US" dirty="0"/>
              <a:t>=</a:t>
            </a:r>
            <a:r>
              <a:rPr lang="en-US" dirty="0" err="1"/>
              <a:t>slr.predict</a:t>
            </a:r>
            <a:r>
              <a:rPr lang="en-US" dirty="0"/>
              <a:t>(</a:t>
            </a:r>
            <a:r>
              <a:rPr lang="en-US" dirty="0" err="1"/>
              <a:t>x_test</a:t>
            </a:r>
            <a:r>
              <a:rPr lang="en-US" dirty="0"/>
              <a:t>)</a:t>
            </a:r>
          </a:p>
          <a:p>
            <a:r>
              <a:rPr lang="en-US" dirty="0" err="1"/>
              <a:t>ypred</a:t>
            </a:r>
            <a:endParaRPr lang="en-US" dirty="0"/>
          </a:p>
          <a:p>
            <a:endParaRPr lang="en-IN" dirty="0"/>
          </a:p>
          <a:p>
            <a:endParaRPr lang="en-IN" dirty="0"/>
          </a:p>
        </p:txBody>
      </p:sp>
    </p:spTree>
    <p:extLst>
      <p:ext uri="{BB962C8B-B14F-4D97-AF65-F5344CB8AC3E}">
        <p14:creationId xmlns:p14="http://schemas.microsoft.com/office/powerpoint/2010/main" val="20990425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3A449F7-840F-C523-72A3-2294DC616232}"/>
              </a:ext>
            </a:extLst>
          </p:cNvPr>
          <p:cNvSpPr>
            <a:spLocks noGrp="1"/>
          </p:cNvSpPr>
          <p:nvPr>
            <p:ph idx="1"/>
          </p:nvPr>
        </p:nvSpPr>
        <p:spPr>
          <a:xfrm>
            <a:off x="1097280" y="579120"/>
            <a:ext cx="10058400" cy="5289974"/>
          </a:xfrm>
        </p:spPr>
        <p:txBody>
          <a:bodyPr>
            <a:normAutofit fontScale="47500" lnSpcReduction="20000"/>
          </a:bodyPr>
          <a:lstStyle/>
          <a:p>
            <a:endParaRPr lang="en-IN" dirty="0"/>
          </a:p>
          <a:p>
            <a:endParaRPr lang="en-IN" dirty="0"/>
          </a:p>
          <a:p>
            <a:endParaRPr lang="en-IN" dirty="0"/>
          </a:p>
          <a:p>
            <a:r>
              <a:rPr lang="en-US" dirty="0"/>
              <a:t>from </a:t>
            </a:r>
            <a:r>
              <a:rPr lang="en-US" dirty="0" err="1"/>
              <a:t>sklearn.metrics</a:t>
            </a:r>
            <a:r>
              <a:rPr lang="en-US" dirty="0"/>
              <a:t> import r2_score</a:t>
            </a:r>
          </a:p>
          <a:p>
            <a:r>
              <a:rPr lang="en-US" dirty="0"/>
              <a:t>r2_score(</a:t>
            </a:r>
            <a:r>
              <a:rPr lang="en-US" dirty="0" err="1"/>
              <a:t>y_test,ypred</a:t>
            </a:r>
            <a:r>
              <a:rPr lang="en-US" dirty="0"/>
              <a:t>)</a:t>
            </a:r>
          </a:p>
          <a:p>
            <a:r>
              <a:rPr lang="en-US" dirty="0"/>
              <a:t>import </a:t>
            </a:r>
            <a:r>
              <a:rPr lang="en-US" dirty="0" err="1"/>
              <a:t>numpy</a:t>
            </a:r>
            <a:r>
              <a:rPr lang="en-US" dirty="0"/>
              <a:t> as np</a:t>
            </a:r>
          </a:p>
          <a:p>
            <a:r>
              <a:rPr lang="en-US" dirty="0"/>
              <a:t>import warnings</a:t>
            </a:r>
          </a:p>
          <a:p>
            <a:r>
              <a:rPr lang="en-US" dirty="0" err="1"/>
              <a:t>warnings.simplefilter</a:t>
            </a:r>
            <a:r>
              <a:rPr lang="en-US" dirty="0"/>
              <a:t>("ignore")</a:t>
            </a:r>
          </a:p>
          <a:p>
            <a:r>
              <a:rPr lang="en-US" dirty="0" err="1"/>
              <a:t>x_new</a:t>
            </a:r>
            <a:r>
              <a:rPr lang="en-US" dirty="0"/>
              <a:t> = </a:t>
            </a:r>
            <a:r>
              <a:rPr lang="en-US" dirty="0" err="1"/>
              <a:t>np.array</a:t>
            </a:r>
            <a:r>
              <a:rPr lang="en-US" dirty="0"/>
              <a:t>([[3,4,5,6]]).reshape(1,-1)</a:t>
            </a:r>
          </a:p>
          <a:p>
            <a:r>
              <a:rPr lang="en-US" dirty="0" err="1"/>
              <a:t>slr.predict</a:t>
            </a:r>
            <a:r>
              <a:rPr lang="en-US" dirty="0"/>
              <a:t>(</a:t>
            </a:r>
            <a:r>
              <a:rPr lang="en-US" dirty="0" err="1"/>
              <a:t>x_new</a:t>
            </a:r>
            <a:r>
              <a:rPr lang="en-US" dirty="0"/>
              <a:t>)</a:t>
            </a:r>
          </a:p>
          <a:p>
            <a:r>
              <a:rPr lang="en-IN" sz="3600" dirty="0">
                <a:latin typeface="Algerian" panose="04020705040A02060702" pitchFamily="82" charset="0"/>
              </a:rPr>
              <a:t>#MULTIPLE LINEAR REGRESSION ("MLR")</a:t>
            </a:r>
          </a:p>
          <a:p>
            <a:r>
              <a:rPr lang="en-IN" dirty="0"/>
              <a:t>from </a:t>
            </a:r>
            <a:r>
              <a:rPr lang="en-IN" dirty="0" err="1"/>
              <a:t>sklearn.preprocessing</a:t>
            </a:r>
            <a:r>
              <a:rPr lang="en-IN" dirty="0"/>
              <a:t> import </a:t>
            </a:r>
            <a:r>
              <a:rPr lang="en-IN" dirty="0" err="1"/>
              <a:t>LabelEncoder</a:t>
            </a:r>
            <a:endParaRPr lang="en-IN" dirty="0"/>
          </a:p>
          <a:p>
            <a:r>
              <a:rPr lang="en-IN" dirty="0"/>
              <a:t>le=</a:t>
            </a:r>
            <a:r>
              <a:rPr lang="en-IN" dirty="0" err="1"/>
              <a:t>LabelEncoder</a:t>
            </a:r>
            <a:r>
              <a:rPr lang="en-IN" dirty="0"/>
              <a:t>()</a:t>
            </a:r>
          </a:p>
          <a:p>
            <a:r>
              <a:rPr lang="en-IN" dirty="0"/>
              <a:t>cols=["Age",  "Diabetes", "</a:t>
            </a:r>
            <a:r>
              <a:rPr lang="en-IN" dirty="0" err="1"/>
              <a:t>BloodPressureProblems</a:t>
            </a:r>
            <a:r>
              <a:rPr lang="en-IN" dirty="0"/>
              <a:t>",  "</a:t>
            </a:r>
            <a:r>
              <a:rPr lang="en-IN" dirty="0" err="1"/>
              <a:t>AnyTransplants</a:t>
            </a:r>
            <a:r>
              <a:rPr lang="en-IN" dirty="0"/>
              <a:t>", "</a:t>
            </a:r>
            <a:r>
              <a:rPr lang="en-IN" dirty="0" err="1"/>
              <a:t>AnyChronicDiseases</a:t>
            </a:r>
            <a:r>
              <a:rPr lang="en-IN" dirty="0"/>
              <a:t>", </a:t>
            </a:r>
          </a:p>
          <a:p>
            <a:r>
              <a:rPr lang="en-IN" dirty="0"/>
              <a:t>"Height"  ,"Weight",  "</a:t>
            </a:r>
            <a:r>
              <a:rPr lang="en-IN" dirty="0" err="1"/>
              <a:t>KnownAllergies</a:t>
            </a:r>
            <a:r>
              <a:rPr lang="en-IN" dirty="0"/>
              <a:t>"  ,"</a:t>
            </a:r>
            <a:r>
              <a:rPr lang="en-IN" dirty="0" err="1"/>
              <a:t>HistoryOfCancerInFamily</a:t>
            </a:r>
            <a:r>
              <a:rPr lang="en-IN" dirty="0"/>
              <a:t>"  ,"</a:t>
            </a:r>
            <a:r>
              <a:rPr lang="en-IN" dirty="0" err="1"/>
              <a:t>NumberOfMajorSurgeries</a:t>
            </a:r>
            <a:r>
              <a:rPr lang="en-IN" dirty="0"/>
              <a:t>" ,"</a:t>
            </a:r>
            <a:r>
              <a:rPr lang="en-IN" dirty="0" err="1"/>
              <a:t>PremiumPrice</a:t>
            </a:r>
            <a:r>
              <a:rPr lang="en-IN" dirty="0"/>
              <a:t>"]</a:t>
            </a:r>
          </a:p>
          <a:p>
            <a:r>
              <a:rPr lang="en-IN" dirty="0"/>
              <a:t>for f in cols:</a:t>
            </a:r>
          </a:p>
          <a:p>
            <a:r>
              <a:rPr lang="en-IN" dirty="0"/>
              <a:t>    df1[f]=</a:t>
            </a:r>
            <a:r>
              <a:rPr lang="en-IN" dirty="0" err="1"/>
              <a:t>le.fit_transform</a:t>
            </a:r>
            <a:r>
              <a:rPr lang="en-IN" dirty="0"/>
              <a:t>(df1[f])</a:t>
            </a:r>
          </a:p>
          <a:p>
            <a:r>
              <a:rPr lang="en-IN" dirty="0"/>
              <a:t>df1.head()</a:t>
            </a:r>
          </a:p>
          <a:p>
            <a:endParaRPr lang="en-IN" dirty="0"/>
          </a:p>
          <a:p>
            <a:endParaRPr lang="en-IN" dirty="0"/>
          </a:p>
          <a:p>
            <a:endParaRPr lang="en-US" dirty="0"/>
          </a:p>
          <a:p>
            <a:endParaRPr lang="en-IN" dirty="0"/>
          </a:p>
        </p:txBody>
      </p:sp>
    </p:spTree>
    <p:extLst>
      <p:ext uri="{BB962C8B-B14F-4D97-AF65-F5344CB8AC3E}">
        <p14:creationId xmlns:p14="http://schemas.microsoft.com/office/powerpoint/2010/main" val="1155806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0F52E36-E388-F507-F886-8E2B81CDB683}"/>
              </a:ext>
            </a:extLst>
          </p:cNvPr>
          <p:cNvSpPr>
            <a:spLocks noGrp="1"/>
          </p:cNvSpPr>
          <p:nvPr>
            <p:ph idx="1"/>
          </p:nvPr>
        </p:nvSpPr>
        <p:spPr>
          <a:xfrm>
            <a:off x="1097280" y="807720"/>
            <a:ext cx="10058400" cy="5061374"/>
          </a:xfrm>
        </p:spPr>
        <p:txBody>
          <a:bodyPr>
            <a:normAutofit fontScale="47500" lnSpcReduction="20000"/>
          </a:bodyPr>
          <a:lstStyle/>
          <a:p>
            <a:pPr marL="0" indent="0">
              <a:buNone/>
            </a:pPr>
            <a:endParaRPr lang="en-IN" dirty="0"/>
          </a:p>
          <a:p>
            <a:r>
              <a:rPr lang="en-IN" dirty="0"/>
              <a:t>df1.corr()</a:t>
            </a:r>
          </a:p>
          <a:p>
            <a:pPr marL="0" indent="0">
              <a:buNone/>
            </a:pPr>
            <a:r>
              <a:rPr lang="en-IN" sz="1600" dirty="0"/>
              <a:t>   x=df1[["Age", "Diabetes", "</a:t>
            </a:r>
            <a:r>
              <a:rPr lang="en-IN" sz="1600" dirty="0" err="1"/>
              <a:t>BloodPressureProblems</a:t>
            </a:r>
            <a:r>
              <a:rPr lang="en-IN" sz="1600" dirty="0"/>
              <a:t>",  "</a:t>
            </a:r>
            <a:r>
              <a:rPr lang="en-IN" sz="1600" dirty="0" err="1"/>
              <a:t>AnyTransplants</a:t>
            </a:r>
            <a:r>
              <a:rPr lang="en-IN" sz="1600" dirty="0"/>
              <a:t>", "</a:t>
            </a:r>
            <a:r>
              <a:rPr lang="en-IN" sz="1600" dirty="0" err="1"/>
              <a:t>AnyChronicDiseases</a:t>
            </a:r>
            <a:r>
              <a:rPr lang="en-IN" sz="1600" dirty="0"/>
              <a:t>", "Height"  ,"Weight",  "</a:t>
            </a:r>
            <a:r>
              <a:rPr lang="en-IN" sz="1600" dirty="0" err="1"/>
              <a:t>KnownAllergies</a:t>
            </a:r>
            <a:r>
              <a:rPr lang="en-IN" sz="1600" dirty="0"/>
              <a:t>"  ,"</a:t>
            </a:r>
            <a:r>
              <a:rPr lang="en-IN" sz="1600" dirty="0" err="1"/>
              <a:t>HistoryOfCancerInFamily</a:t>
            </a:r>
            <a:r>
              <a:rPr lang="en-IN" sz="1600" dirty="0"/>
              <a:t>"  ,"</a:t>
            </a:r>
            <a:r>
              <a:rPr lang="en-IN" sz="1600" dirty="0" err="1"/>
              <a:t>NumberOfMajorSurgeries</a:t>
            </a:r>
            <a:r>
              <a:rPr lang="en-IN" sz="1600" dirty="0"/>
              <a:t>" ,"</a:t>
            </a:r>
            <a:r>
              <a:rPr lang="en-IN" sz="1600" dirty="0" err="1"/>
              <a:t>PremiumPrice</a:t>
            </a:r>
            <a:r>
              <a:rPr lang="en-IN" sz="1600" dirty="0"/>
              <a:t>"]]</a:t>
            </a:r>
          </a:p>
          <a:p>
            <a:pPr marL="0" indent="0">
              <a:buNone/>
            </a:pPr>
            <a:endParaRPr lang="en-IN" sz="1600" dirty="0"/>
          </a:p>
          <a:p>
            <a:pPr marL="0" indent="0">
              <a:buNone/>
            </a:pPr>
            <a:r>
              <a:rPr lang="en-IN" sz="1600" dirty="0"/>
              <a:t>   y=df1[["</a:t>
            </a:r>
            <a:r>
              <a:rPr lang="en-IN" sz="1600" dirty="0" err="1"/>
              <a:t>PremiumPrice</a:t>
            </a:r>
            <a:r>
              <a:rPr lang="en-IN" sz="1600" dirty="0"/>
              <a:t>"]]</a:t>
            </a:r>
          </a:p>
          <a:p>
            <a:r>
              <a:rPr lang="en-IN" dirty="0"/>
              <a:t>from </a:t>
            </a:r>
            <a:r>
              <a:rPr lang="en-IN" dirty="0" err="1"/>
              <a:t>sklearn.model_selection</a:t>
            </a:r>
            <a:r>
              <a:rPr lang="en-IN" dirty="0"/>
              <a:t> import </a:t>
            </a:r>
            <a:r>
              <a:rPr lang="en-IN" dirty="0" err="1"/>
              <a:t>train_test_split</a:t>
            </a:r>
            <a:endParaRPr lang="en-IN" dirty="0"/>
          </a:p>
          <a:p>
            <a:r>
              <a:rPr lang="en-IN" dirty="0" err="1"/>
              <a:t>x_train,x_test,y_train,y_test</a:t>
            </a:r>
            <a:r>
              <a:rPr lang="en-IN" dirty="0"/>
              <a:t>=</a:t>
            </a:r>
            <a:r>
              <a:rPr lang="en-IN" dirty="0" err="1"/>
              <a:t>train_test_split</a:t>
            </a:r>
            <a:r>
              <a:rPr lang="en-IN" dirty="0"/>
              <a:t>(</a:t>
            </a:r>
            <a:r>
              <a:rPr lang="en-IN" dirty="0" err="1"/>
              <a:t>x,y,test_size</a:t>
            </a:r>
            <a:r>
              <a:rPr lang="en-IN" dirty="0"/>
              <a:t>=0.2,random_state=2)</a:t>
            </a:r>
          </a:p>
          <a:p>
            <a:r>
              <a:rPr lang="en-IN" dirty="0"/>
              <a:t>from </a:t>
            </a:r>
            <a:r>
              <a:rPr lang="en-IN" dirty="0" err="1"/>
              <a:t>sklearn.linear_model</a:t>
            </a:r>
            <a:r>
              <a:rPr lang="en-IN" dirty="0"/>
              <a:t> import </a:t>
            </a:r>
            <a:r>
              <a:rPr lang="en-IN" dirty="0" err="1"/>
              <a:t>LinearRegression</a:t>
            </a:r>
            <a:endParaRPr lang="en-IN" dirty="0"/>
          </a:p>
          <a:p>
            <a:r>
              <a:rPr lang="en-IN" dirty="0" err="1"/>
              <a:t>slr</a:t>
            </a:r>
            <a:r>
              <a:rPr lang="en-IN" dirty="0"/>
              <a:t>=</a:t>
            </a:r>
            <a:r>
              <a:rPr lang="en-IN" dirty="0" err="1"/>
              <a:t>LinearRegression</a:t>
            </a:r>
            <a:r>
              <a:rPr lang="en-IN" dirty="0"/>
              <a:t>()</a:t>
            </a:r>
          </a:p>
          <a:p>
            <a:r>
              <a:rPr lang="en-IN" dirty="0" err="1"/>
              <a:t>slr.fit</a:t>
            </a:r>
            <a:r>
              <a:rPr lang="en-IN" dirty="0"/>
              <a:t>(</a:t>
            </a:r>
            <a:r>
              <a:rPr lang="en-IN" dirty="0" err="1"/>
              <a:t>x_train,y_train</a:t>
            </a:r>
            <a:r>
              <a:rPr lang="en-IN" dirty="0"/>
              <a:t>)</a:t>
            </a:r>
          </a:p>
          <a:p>
            <a:r>
              <a:rPr lang="en-US" dirty="0" err="1"/>
              <a:t>ypred</a:t>
            </a:r>
            <a:r>
              <a:rPr lang="en-US" dirty="0"/>
              <a:t>=</a:t>
            </a:r>
            <a:r>
              <a:rPr lang="en-US" dirty="0" err="1"/>
              <a:t>slr.predict</a:t>
            </a:r>
            <a:r>
              <a:rPr lang="en-US" dirty="0"/>
              <a:t>(</a:t>
            </a:r>
            <a:r>
              <a:rPr lang="en-US" dirty="0" err="1"/>
              <a:t>x_test</a:t>
            </a:r>
            <a:r>
              <a:rPr lang="en-US" dirty="0"/>
              <a:t>)</a:t>
            </a:r>
          </a:p>
          <a:p>
            <a:r>
              <a:rPr lang="en-US" dirty="0" err="1"/>
              <a:t>ypred</a:t>
            </a:r>
            <a:endParaRPr lang="en-US" dirty="0"/>
          </a:p>
          <a:p>
            <a:r>
              <a:rPr lang="en-US" dirty="0"/>
              <a:t>from </a:t>
            </a:r>
            <a:r>
              <a:rPr lang="en-US" dirty="0" err="1"/>
              <a:t>sklearn.metrics</a:t>
            </a:r>
            <a:r>
              <a:rPr lang="en-US" dirty="0"/>
              <a:t> import r2_score</a:t>
            </a:r>
          </a:p>
          <a:p>
            <a:r>
              <a:rPr lang="en-US" dirty="0"/>
              <a:t>r2_score(</a:t>
            </a:r>
            <a:r>
              <a:rPr lang="en-US" dirty="0" err="1"/>
              <a:t>y_test,ypre</a:t>
            </a:r>
            <a:endParaRPr lang="en-US" dirty="0"/>
          </a:p>
          <a:p>
            <a:r>
              <a:rPr lang="en-US" dirty="0"/>
              <a:t>import </a:t>
            </a:r>
            <a:r>
              <a:rPr lang="en-US" dirty="0" err="1"/>
              <a:t>numpy</a:t>
            </a:r>
            <a:r>
              <a:rPr lang="en-US" dirty="0"/>
              <a:t> as np</a:t>
            </a:r>
          </a:p>
          <a:p>
            <a:r>
              <a:rPr lang="en-US" dirty="0"/>
              <a:t>from </a:t>
            </a:r>
            <a:r>
              <a:rPr lang="en-US" dirty="0" err="1"/>
              <a:t>sklearn.linear_model</a:t>
            </a:r>
            <a:r>
              <a:rPr lang="en-US" dirty="0"/>
              <a:t> import </a:t>
            </a:r>
            <a:r>
              <a:rPr lang="en-US" dirty="0" err="1"/>
              <a:t>LinearRegression</a:t>
            </a:r>
            <a:endParaRPr lang="en-US" dirty="0"/>
          </a:p>
          <a:p>
            <a:r>
              <a:rPr lang="en-US" dirty="0" err="1"/>
              <a:t>x_new</a:t>
            </a:r>
            <a:r>
              <a:rPr lang="en-US" dirty="0"/>
              <a:t>=</a:t>
            </a:r>
            <a:r>
              <a:rPr lang="en-US" dirty="0" err="1"/>
              <a:t>np.array</a:t>
            </a:r>
            <a:r>
              <a:rPr lang="en-US" dirty="0"/>
              <a:t>([[5000000, 30, 5, 1, 3, 0, 10, 100, 20, 3.0, 12.0]]).reshape(1,-1)</a:t>
            </a:r>
          </a:p>
          <a:p>
            <a:r>
              <a:rPr lang="en-US" dirty="0" err="1"/>
              <a:t>slr.predict</a:t>
            </a:r>
            <a:r>
              <a:rPr lang="en-US" dirty="0"/>
              <a:t>(</a:t>
            </a:r>
            <a:r>
              <a:rPr lang="en-US" dirty="0" err="1"/>
              <a:t>x_new</a:t>
            </a:r>
            <a:r>
              <a:rPr lang="en-US" dirty="0"/>
              <a:t>)</a:t>
            </a:r>
          </a:p>
          <a:p>
            <a:endParaRPr lang="en-IN" sz="1600" dirty="0"/>
          </a:p>
        </p:txBody>
      </p:sp>
    </p:spTree>
    <p:extLst>
      <p:ext uri="{BB962C8B-B14F-4D97-AF65-F5344CB8AC3E}">
        <p14:creationId xmlns:p14="http://schemas.microsoft.com/office/powerpoint/2010/main" val="9661663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DE4EC60-E4E9-0CBB-13A1-99515D97C2BB}"/>
              </a:ext>
            </a:extLst>
          </p:cNvPr>
          <p:cNvSpPr>
            <a:spLocks noGrp="1"/>
          </p:cNvSpPr>
          <p:nvPr>
            <p:ph idx="1"/>
          </p:nvPr>
        </p:nvSpPr>
        <p:spPr>
          <a:xfrm>
            <a:off x="1097280" y="641684"/>
            <a:ext cx="10058400" cy="5227410"/>
          </a:xfrm>
        </p:spPr>
        <p:txBody>
          <a:bodyPr>
            <a:normAutofit fontScale="70000" lnSpcReduction="20000"/>
          </a:bodyPr>
          <a:lstStyle/>
          <a:p>
            <a:endParaRPr lang="en-IN" dirty="0"/>
          </a:p>
          <a:p>
            <a:r>
              <a:rPr lang="en-US" sz="3200" dirty="0">
                <a:latin typeface="Algerian" panose="04020705040A02060702" pitchFamily="82" charset="0"/>
              </a:rPr>
              <a:t>#K NEAREAST NEIGHBOUR ALGORITHM ("KNN")</a:t>
            </a:r>
          </a:p>
          <a:p>
            <a:pPr marL="0" indent="0">
              <a:buNone/>
            </a:pPr>
            <a:r>
              <a:rPr lang="en-IN" dirty="0"/>
              <a:t>from </a:t>
            </a:r>
            <a:r>
              <a:rPr lang="en-IN" dirty="0" err="1"/>
              <a:t>sklearn.preprocessing</a:t>
            </a:r>
            <a:r>
              <a:rPr lang="en-IN" dirty="0"/>
              <a:t> import </a:t>
            </a:r>
            <a:r>
              <a:rPr lang="en-IN" dirty="0" err="1"/>
              <a:t>LabelEncoder</a:t>
            </a:r>
            <a:endParaRPr lang="en-IN" dirty="0"/>
          </a:p>
          <a:p>
            <a:r>
              <a:rPr lang="en-IN" dirty="0"/>
              <a:t>le=</a:t>
            </a:r>
            <a:r>
              <a:rPr lang="en-IN" dirty="0" err="1"/>
              <a:t>LabelEncoder</a:t>
            </a:r>
            <a:r>
              <a:rPr lang="en-IN" dirty="0"/>
              <a:t>()</a:t>
            </a:r>
          </a:p>
          <a:p>
            <a:r>
              <a:rPr lang="en-IN" dirty="0"/>
              <a:t>cols=["Age",  "Diabetes", "</a:t>
            </a:r>
            <a:r>
              <a:rPr lang="en-IN" dirty="0" err="1"/>
              <a:t>BloodPressureProblems</a:t>
            </a:r>
            <a:r>
              <a:rPr lang="en-IN" dirty="0"/>
              <a:t>",  "</a:t>
            </a:r>
            <a:r>
              <a:rPr lang="en-IN" dirty="0" err="1"/>
              <a:t>AnyTransplants</a:t>
            </a:r>
            <a:r>
              <a:rPr lang="en-IN" dirty="0"/>
              <a:t>", "</a:t>
            </a:r>
            <a:r>
              <a:rPr lang="en-IN" dirty="0" err="1"/>
              <a:t>AnyChronicDiseases</a:t>
            </a:r>
            <a:r>
              <a:rPr lang="en-IN" dirty="0"/>
              <a:t>",</a:t>
            </a:r>
          </a:p>
          <a:p>
            <a:r>
              <a:rPr lang="en-IN" dirty="0"/>
              <a:t>"Height"  ,"Weight",  "</a:t>
            </a:r>
            <a:r>
              <a:rPr lang="en-IN" dirty="0" err="1"/>
              <a:t>KnownAllergies</a:t>
            </a:r>
            <a:r>
              <a:rPr lang="en-IN" dirty="0"/>
              <a:t>"  ,"</a:t>
            </a:r>
            <a:r>
              <a:rPr lang="en-IN" dirty="0" err="1"/>
              <a:t>HistoryOfCancerInFamily</a:t>
            </a:r>
            <a:r>
              <a:rPr lang="en-IN" dirty="0"/>
              <a:t>"  ,"</a:t>
            </a:r>
            <a:r>
              <a:rPr lang="en-IN" dirty="0" err="1"/>
              <a:t>NumberOfMajorSurgeries</a:t>
            </a:r>
            <a:r>
              <a:rPr lang="en-IN" dirty="0"/>
              <a:t>" ,"</a:t>
            </a:r>
            <a:r>
              <a:rPr lang="en-IN" dirty="0" err="1"/>
              <a:t>PremiumPrice</a:t>
            </a:r>
            <a:r>
              <a:rPr lang="en-IN" dirty="0"/>
              <a:t>"]</a:t>
            </a:r>
          </a:p>
          <a:p>
            <a:r>
              <a:rPr lang="en-IN" dirty="0"/>
              <a:t>for f in cols:</a:t>
            </a:r>
          </a:p>
          <a:p>
            <a:r>
              <a:rPr lang="en-IN" dirty="0"/>
              <a:t>    df2[f]=</a:t>
            </a:r>
            <a:r>
              <a:rPr lang="en-IN" dirty="0" err="1"/>
              <a:t>le.fit_transform</a:t>
            </a:r>
            <a:r>
              <a:rPr lang="en-IN" dirty="0"/>
              <a:t>(df2[f])</a:t>
            </a:r>
          </a:p>
          <a:p>
            <a:r>
              <a:rPr lang="en-IN" dirty="0"/>
              <a:t>df2.head()</a:t>
            </a:r>
          </a:p>
          <a:p>
            <a:pPr marL="0" indent="0">
              <a:buNone/>
            </a:pPr>
            <a:r>
              <a:rPr lang="en-IN" dirty="0"/>
              <a:t>df2.corr()</a:t>
            </a:r>
          </a:p>
          <a:p>
            <a:r>
              <a:rPr lang="en-IN" dirty="0"/>
              <a:t>from </a:t>
            </a:r>
            <a:r>
              <a:rPr lang="en-IN" dirty="0" err="1"/>
              <a:t>sklearn.neighbors</a:t>
            </a:r>
            <a:r>
              <a:rPr lang="en-IN" dirty="0"/>
              <a:t> import </a:t>
            </a:r>
            <a:r>
              <a:rPr lang="en-IN" dirty="0" err="1"/>
              <a:t>KNeighborsRegressor</a:t>
            </a:r>
            <a:endParaRPr lang="en-IN" dirty="0"/>
          </a:p>
          <a:p>
            <a:r>
              <a:rPr lang="en-IN" dirty="0"/>
              <a:t>import warnings</a:t>
            </a:r>
          </a:p>
          <a:p>
            <a:r>
              <a:rPr lang="en-IN" dirty="0" err="1"/>
              <a:t>warnings.simplefilter</a:t>
            </a:r>
            <a:r>
              <a:rPr lang="en-IN" dirty="0"/>
              <a:t>("ignore")</a:t>
            </a:r>
          </a:p>
          <a:p>
            <a:r>
              <a:rPr lang="en-IN" dirty="0" err="1"/>
              <a:t>knn</a:t>
            </a:r>
            <a:r>
              <a:rPr lang="en-IN" dirty="0"/>
              <a:t>=</a:t>
            </a:r>
            <a:r>
              <a:rPr lang="en-IN" dirty="0" err="1"/>
              <a:t>KNeighborsRegressor</a:t>
            </a:r>
            <a:r>
              <a:rPr lang="en-IN" dirty="0"/>
              <a:t> (</a:t>
            </a:r>
            <a:r>
              <a:rPr lang="en-IN" dirty="0" err="1"/>
              <a:t>n_neighbors</a:t>
            </a:r>
            <a:r>
              <a:rPr lang="en-IN" dirty="0"/>
              <a:t>=3,metric='</a:t>
            </a:r>
            <a:r>
              <a:rPr lang="en-IN" dirty="0" err="1"/>
              <a:t>euclidean</a:t>
            </a:r>
            <a:r>
              <a:rPr lang="en-IN" dirty="0"/>
              <a:t>')</a:t>
            </a:r>
          </a:p>
          <a:p>
            <a:r>
              <a:rPr lang="en-IN" dirty="0" err="1"/>
              <a:t>knn.fit</a:t>
            </a:r>
            <a:r>
              <a:rPr lang="en-IN" dirty="0"/>
              <a:t>(</a:t>
            </a:r>
            <a:r>
              <a:rPr lang="en-IN" dirty="0" err="1"/>
              <a:t>x_train,y_train</a:t>
            </a:r>
            <a:r>
              <a:rPr lang="en-IN" dirty="0"/>
              <a:t>)</a:t>
            </a:r>
          </a:p>
          <a:p>
            <a:pPr marL="0" indent="0">
              <a:buNone/>
            </a:pPr>
            <a:endParaRPr lang="en-IN" sz="1600" dirty="0"/>
          </a:p>
        </p:txBody>
      </p:sp>
    </p:spTree>
    <p:extLst>
      <p:ext uri="{BB962C8B-B14F-4D97-AF65-F5344CB8AC3E}">
        <p14:creationId xmlns:p14="http://schemas.microsoft.com/office/powerpoint/2010/main" val="19273471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99E8BCFF-760F-C986-C947-A3308AB33D6E}"/>
              </a:ext>
            </a:extLst>
          </p:cNvPr>
          <p:cNvSpPr>
            <a:spLocks noGrp="1"/>
          </p:cNvSpPr>
          <p:nvPr>
            <p:ph idx="1"/>
          </p:nvPr>
        </p:nvSpPr>
        <p:spPr>
          <a:xfrm rot="10800000" flipV="1">
            <a:off x="1096963" y="549275"/>
            <a:ext cx="10058400" cy="5319713"/>
          </a:xfrm>
        </p:spPr>
        <p:txBody>
          <a:bodyPr>
            <a:normAutofit fontScale="97500"/>
          </a:bodyPr>
          <a:lstStyle/>
          <a:p>
            <a:endParaRPr lang="en-IN" dirty="0"/>
          </a:p>
          <a:p>
            <a:r>
              <a:rPr lang="en-IN" dirty="0"/>
              <a:t>X=</a:t>
            </a:r>
            <a:r>
              <a:rPr lang="en-IN" dirty="0" err="1"/>
              <a:t>df</a:t>
            </a:r>
            <a:r>
              <a:rPr lang="en-IN" dirty="0"/>
              <a:t>[["Age","Diabetes","Height","Weight","KnownAllergies","HistoryOfCancerInFamily","NumberOfMajorSurgeries"]].</a:t>
            </a:r>
            <a:r>
              <a:rPr lang="en-IN" dirty="0" err="1"/>
              <a:t>astype</a:t>
            </a:r>
            <a:r>
              <a:rPr lang="en-IN" dirty="0"/>
              <a:t>(int)</a:t>
            </a:r>
          </a:p>
          <a:p>
            <a:endParaRPr lang="en-IN" dirty="0"/>
          </a:p>
          <a:p>
            <a:r>
              <a:rPr lang="en-IN" dirty="0"/>
              <a:t>y = </a:t>
            </a:r>
            <a:r>
              <a:rPr lang="en-IN" dirty="0" err="1"/>
              <a:t>df</a:t>
            </a:r>
            <a:r>
              <a:rPr lang="en-IN" dirty="0"/>
              <a:t>["</a:t>
            </a:r>
            <a:r>
              <a:rPr lang="en-IN" dirty="0" err="1"/>
              <a:t>PremiumPrice</a:t>
            </a:r>
            <a:r>
              <a:rPr lang="en-IN" dirty="0"/>
              <a:t>"].</a:t>
            </a:r>
            <a:r>
              <a:rPr lang="en-IN" dirty="0" err="1"/>
              <a:t>astype</a:t>
            </a:r>
            <a:r>
              <a:rPr lang="en-IN" dirty="0"/>
              <a:t>(int)</a:t>
            </a:r>
          </a:p>
          <a:p>
            <a:r>
              <a:rPr lang="en-IN" dirty="0"/>
              <a:t>from </a:t>
            </a:r>
            <a:r>
              <a:rPr lang="en-IN" dirty="0" err="1"/>
              <a:t>sklearn.model_selection</a:t>
            </a:r>
            <a:r>
              <a:rPr lang="en-IN" dirty="0"/>
              <a:t> import </a:t>
            </a:r>
            <a:r>
              <a:rPr lang="en-IN" dirty="0" err="1"/>
              <a:t>train_test_split</a:t>
            </a:r>
            <a:endParaRPr lang="en-IN" dirty="0"/>
          </a:p>
          <a:p>
            <a:r>
              <a:rPr lang="en-IN" dirty="0" err="1"/>
              <a:t>x_train,x_test,y_train,y_test</a:t>
            </a:r>
            <a:r>
              <a:rPr lang="en-IN" dirty="0"/>
              <a:t>=</a:t>
            </a:r>
            <a:r>
              <a:rPr lang="en-IN" dirty="0" err="1"/>
              <a:t>train_test_split</a:t>
            </a:r>
            <a:r>
              <a:rPr lang="en-IN" dirty="0"/>
              <a:t>(</a:t>
            </a:r>
            <a:r>
              <a:rPr lang="en-IN" dirty="0" err="1"/>
              <a:t>x,y,test_size</a:t>
            </a:r>
            <a:r>
              <a:rPr lang="en-IN" dirty="0"/>
              <a:t>=0.2,random_state=2)</a:t>
            </a:r>
          </a:p>
          <a:p>
            <a:r>
              <a:rPr lang="en-IN" dirty="0" err="1"/>
              <a:t>ypred</a:t>
            </a:r>
            <a:r>
              <a:rPr lang="en-IN" dirty="0"/>
              <a:t>=</a:t>
            </a:r>
            <a:r>
              <a:rPr lang="en-IN" dirty="0" err="1"/>
              <a:t>knn.predict</a:t>
            </a:r>
            <a:r>
              <a:rPr lang="en-IN" dirty="0"/>
              <a:t>(</a:t>
            </a:r>
            <a:r>
              <a:rPr lang="en-IN" dirty="0" err="1"/>
              <a:t>x_test</a:t>
            </a:r>
            <a:r>
              <a:rPr lang="en-IN" dirty="0"/>
              <a:t>).</a:t>
            </a:r>
            <a:r>
              <a:rPr lang="en-IN" dirty="0" err="1"/>
              <a:t>astype</a:t>
            </a:r>
            <a:r>
              <a:rPr lang="en-IN" dirty="0"/>
              <a:t>(int)</a:t>
            </a:r>
          </a:p>
          <a:p>
            <a:r>
              <a:rPr lang="en-IN" dirty="0"/>
              <a:t>print(</a:t>
            </a:r>
            <a:r>
              <a:rPr lang="en-IN" dirty="0" err="1"/>
              <a:t>ypred</a:t>
            </a:r>
            <a:r>
              <a:rPr lang="en-IN" dirty="0"/>
              <a:t>)</a:t>
            </a:r>
          </a:p>
          <a:p>
            <a:r>
              <a:rPr lang="en-US" dirty="0"/>
              <a:t>print(</a:t>
            </a:r>
            <a:r>
              <a:rPr lang="en-US" dirty="0" err="1"/>
              <a:t>classification_report</a:t>
            </a:r>
            <a:r>
              <a:rPr lang="en-US" dirty="0"/>
              <a:t>(</a:t>
            </a:r>
            <a:r>
              <a:rPr lang="en-US" dirty="0" err="1"/>
              <a:t>y_test,ypred</a:t>
            </a:r>
            <a:r>
              <a:rPr lang="en-US" dirty="0"/>
              <a:t>))</a:t>
            </a:r>
          </a:p>
          <a:p>
            <a:r>
              <a:rPr lang="en-US" dirty="0"/>
              <a:t>from </a:t>
            </a:r>
            <a:r>
              <a:rPr lang="en-US" dirty="0" err="1"/>
              <a:t>sklearn.metrics</a:t>
            </a:r>
            <a:r>
              <a:rPr lang="en-US" dirty="0"/>
              <a:t> import classification_report,accuracy_score,r2_score</a:t>
            </a:r>
          </a:p>
          <a:p>
            <a:r>
              <a:rPr lang="en-US" dirty="0"/>
              <a:t>print(r2_score(</a:t>
            </a:r>
            <a:r>
              <a:rPr lang="en-US" dirty="0" err="1"/>
              <a:t>y_test,ypred</a:t>
            </a:r>
            <a:r>
              <a:rPr lang="en-US" dirty="0"/>
              <a:t>))</a:t>
            </a:r>
          </a:p>
          <a:p>
            <a:endParaRPr lang="en-IN" sz="1800" dirty="0"/>
          </a:p>
        </p:txBody>
      </p:sp>
    </p:spTree>
    <p:extLst>
      <p:ext uri="{BB962C8B-B14F-4D97-AF65-F5344CB8AC3E}">
        <p14:creationId xmlns:p14="http://schemas.microsoft.com/office/powerpoint/2010/main" val="18658790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66C3F3D-EFE1-43F0-3409-6BCB3A6080CD}"/>
              </a:ext>
            </a:extLst>
          </p:cNvPr>
          <p:cNvSpPr>
            <a:spLocks noGrp="1"/>
          </p:cNvSpPr>
          <p:nvPr>
            <p:ph idx="1"/>
          </p:nvPr>
        </p:nvSpPr>
        <p:spPr>
          <a:xfrm>
            <a:off x="1097280" y="624840"/>
            <a:ext cx="10058400" cy="5244254"/>
          </a:xfrm>
        </p:spPr>
        <p:txBody>
          <a:bodyPr>
            <a:normAutofit fontScale="92500" lnSpcReduction="20000"/>
          </a:bodyPr>
          <a:lstStyle/>
          <a:p>
            <a:endParaRPr lang="en-IN" sz="2800" dirty="0">
              <a:latin typeface="Algerian" panose="04020705040A02060702" pitchFamily="82" charset="0"/>
            </a:endParaRPr>
          </a:p>
          <a:p>
            <a:r>
              <a:rPr lang="en-US" sz="2800" dirty="0">
                <a:latin typeface="Algerian" panose="04020705040A02060702" pitchFamily="82" charset="0"/>
              </a:rPr>
              <a:t># LINEAR SVM ALGORITHM:("SUPPORT VECTOR MACHINE")</a:t>
            </a:r>
          </a:p>
          <a:p>
            <a:endParaRPr lang="en-IN" dirty="0"/>
          </a:p>
          <a:p>
            <a:r>
              <a:rPr lang="en-IN" dirty="0"/>
              <a:t>from </a:t>
            </a:r>
            <a:r>
              <a:rPr lang="en-IN" dirty="0" err="1"/>
              <a:t>sklearn.preprocessing</a:t>
            </a:r>
            <a:r>
              <a:rPr lang="en-IN" dirty="0"/>
              <a:t> import </a:t>
            </a:r>
            <a:r>
              <a:rPr lang="en-IN" dirty="0" err="1"/>
              <a:t>LabelEncoder</a:t>
            </a:r>
            <a:endParaRPr lang="en-IN" dirty="0"/>
          </a:p>
          <a:p>
            <a:r>
              <a:rPr lang="en-IN" dirty="0"/>
              <a:t>le=</a:t>
            </a:r>
            <a:r>
              <a:rPr lang="en-IN" dirty="0" err="1"/>
              <a:t>LabelEncoder</a:t>
            </a:r>
            <a:r>
              <a:rPr lang="en-IN" dirty="0"/>
              <a:t>()</a:t>
            </a:r>
          </a:p>
          <a:p>
            <a:r>
              <a:rPr lang="en-IN" dirty="0"/>
              <a:t>cols=["Age","Diabetes","BloodPressureProblems","AnyTransplants","AnyChronicDiseases","Height","Weight","KnownAllergies","HistoryOfCancerInFamily","NumberOfMajorSurgeries","PremiumPrice"]</a:t>
            </a:r>
          </a:p>
          <a:p>
            <a:r>
              <a:rPr lang="en-IN" dirty="0"/>
              <a:t>for f in cols:</a:t>
            </a:r>
          </a:p>
          <a:p>
            <a:r>
              <a:rPr lang="en-IN" dirty="0"/>
              <a:t>    df3[f]=</a:t>
            </a:r>
            <a:r>
              <a:rPr lang="en-IN" dirty="0" err="1"/>
              <a:t>le.fit_transform</a:t>
            </a:r>
            <a:r>
              <a:rPr lang="en-IN" dirty="0"/>
              <a:t>(df3[f])</a:t>
            </a:r>
          </a:p>
          <a:p>
            <a:r>
              <a:rPr lang="en-IN" dirty="0"/>
              <a:t>df3.head()</a:t>
            </a:r>
          </a:p>
          <a:p>
            <a:r>
              <a:rPr lang="en-IN" dirty="0"/>
              <a:t>df3.corr()</a:t>
            </a:r>
          </a:p>
          <a:p>
            <a:r>
              <a:rPr lang="en-IN" dirty="0"/>
              <a:t>x=df3[["Age","Diabetes","BloodPressureProblems","AnyTransplants","AnyChronicDiseases","Height","Weight","KnownAllergies","HistoryOfCancerInFamily","NumberOfMajorSurgeries"]]</a:t>
            </a:r>
          </a:p>
          <a:p>
            <a:r>
              <a:rPr lang="en-IN" dirty="0"/>
              <a:t>y=df3[["</a:t>
            </a:r>
            <a:r>
              <a:rPr lang="en-IN" dirty="0" err="1"/>
              <a:t>PremiumPrice</a:t>
            </a:r>
            <a:r>
              <a:rPr lang="en-IN" dirty="0"/>
              <a:t>"]]</a:t>
            </a:r>
          </a:p>
          <a:p>
            <a:endParaRPr lang="en-IN" sz="1800" dirty="0"/>
          </a:p>
        </p:txBody>
      </p:sp>
    </p:spTree>
    <p:extLst>
      <p:ext uri="{BB962C8B-B14F-4D97-AF65-F5344CB8AC3E}">
        <p14:creationId xmlns:p14="http://schemas.microsoft.com/office/powerpoint/2010/main" val="12687357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F43A99F-FBCE-AC72-5E11-0B87A2D8A535}"/>
              </a:ext>
            </a:extLst>
          </p:cNvPr>
          <p:cNvSpPr>
            <a:spLocks noGrp="1"/>
          </p:cNvSpPr>
          <p:nvPr>
            <p:ph idx="1"/>
          </p:nvPr>
        </p:nvSpPr>
        <p:spPr>
          <a:xfrm>
            <a:off x="1097280" y="563880"/>
            <a:ext cx="10058400" cy="5305214"/>
          </a:xfrm>
        </p:spPr>
        <p:txBody>
          <a:bodyPr>
            <a:normAutofit fontScale="70000" lnSpcReduction="20000"/>
          </a:bodyPr>
          <a:lstStyle/>
          <a:p>
            <a:endParaRPr lang="en-IN" dirty="0"/>
          </a:p>
          <a:p>
            <a:endParaRPr lang="en-IN" dirty="0"/>
          </a:p>
          <a:p>
            <a:pPr marL="0" indent="0">
              <a:buNone/>
            </a:pPr>
            <a:endParaRPr lang="en-US" dirty="0"/>
          </a:p>
          <a:p>
            <a:pPr marL="0" indent="0">
              <a:buNone/>
            </a:pPr>
            <a:endParaRPr lang="en-US" dirty="0"/>
          </a:p>
          <a:p>
            <a:pPr marL="0" indent="0">
              <a:buNone/>
            </a:pPr>
            <a:r>
              <a:rPr lang="en-US" dirty="0"/>
              <a:t>from </a:t>
            </a:r>
            <a:r>
              <a:rPr lang="en-US" dirty="0" err="1"/>
              <a:t>sklearn.model_selection</a:t>
            </a:r>
            <a:r>
              <a:rPr lang="en-US" dirty="0"/>
              <a:t> import </a:t>
            </a:r>
            <a:r>
              <a:rPr lang="en-US" dirty="0" err="1"/>
              <a:t>train_test_split</a:t>
            </a:r>
            <a:endParaRPr lang="en-US" dirty="0"/>
          </a:p>
          <a:p>
            <a:r>
              <a:rPr lang="en-US" dirty="0" err="1"/>
              <a:t>x_train,x_test,y_train,y_test</a:t>
            </a:r>
            <a:r>
              <a:rPr lang="en-US" dirty="0"/>
              <a:t>=</a:t>
            </a:r>
            <a:r>
              <a:rPr lang="en-US" dirty="0" err="1"/>
              <a:t>train_test_split</a:t>
            </a:r>
            <a:r>
              <a:rPr lang="en-US" dirty="0"/>
              <a:t>(</a:t>
            </a:r>
            <a:r>
              <a:rPr lang="en-US" dirty="0" err="1"/>
              <a:t>x,y,test_size</a:t>
            </a:r>
            <a:r>
              <a:rPr lang="en-US" dirty="0"/>
              <a:t>=0.2)</a:t>
            </a:r>
          </a:p>
          <a:p>
            <a:r>
              <a:rPr lang="en-IN" dirty="0"/>
              <a:t>from </a:t>
            </a:r>
            <a:r>
              <a:rPr lang="en-IN" dirty="0" err="1"/>
              <a:t>sklearn.svm</a:t>
            </a:r>
            <a:r>
              <a:rPr lang="en-IN" dirty="0"/>
              <a:t> import </a:t>
            </a:r>
            <a:r>
              <a:rPr lang="en-IN" dirty="0" err="1"/>
              <a:t>LinearSVC</a:t>
            </a:r>
            <a:r>
              <a:rPr lang="en-IN" dirty="0"/>
              <a:t>             </a:t>
            </a:r>
          </a:p>
          <a:p>
            <a:r>
              <a:rPr lang="en-IN" dirty="0"/>
              <a:t>import warnings   </a:t>
            </a:r>
          </a:p>
          <a:p>
            <a:r>
              <a:rPr lang="en-IN" dirty="0" err="1"/>
              <a:t>warnings.simplefilter</a:t>
            </a:r>
            <a:r>
              <a:rPr lang="en-IN" dirty="0"/>
              <a:t>("ignore")</a:t>
            </a:r>
          </a:p>
          <a:p>
            <a:r>
              <a:rPr lang="en-IN" dirty="0"/>
              <a:t>classifier=</a:t>
            </a:r>
            <a:r>
              <a:rPr lang="en-IN" dirty="0" err="1"/>
              <a:t>LinearSVC</a:t>
            </a:r>
            <a:r>
              <a:rPr lang="en-IN" dirty="0"/>
              <a:t>()</a:t>
            </a:r>
          </a:p>
          <a:p>
            <a:r>
              <a:rPr lang="en-IN" dirty="0" err="1"/>
              <a:t>classifier.fit</a:t>
            </a:r>
            <a:r>
              <a:rPr lang="en-IN" dirty="0"/>
              <a:t>(</a:t>
            </a:r>
            <a:r>
              <a:rPr lang="en-IN" dirty="0" err="1"/>
              <a:t>x_train,y_train</a:t>
            </a:r>
            <a:r>
              <a:rPr lang="en-IN" dirty="0"/>
              <a:t>)</a:t>
            </a:r>
          </a:p>
          <a:p>
            <a:r>
              <a:rPr lang="en-US" dirty="0"/>
              <a:t>from </a:t>
            </a:r>
            <a:r>
              <a:rPr lang="en-US" dirty="0" err="1"/>
              <a:t>sklearn.metrics</a:t>
            </a:r>
            <a:r>
              <a:rPr lang="en-US" dirty="0"/>
              <a:t> import </a:t>
            </a:r>
            <a:r>
              <a:rPr lang="en-US" dirty="0" err="1"/>
              <a:t>accuracy_score</a:t>
            </a:r>
            <a:endParaRPr lang="en-US" dirty="0"/>
          </a:p>
          <a:p>
            <a:r>
              <a:rPr lang="en-US" dirty="0" err="1"/>
              <a:t>y_pred</a:t>
            </a:r>
            <a:r>
              <a:rPr lang="en-US" dirty="0"/>
              <a:t>=</a:t>
            </a:r>
            <a:r>
              <a:rPr lang="en-US" dirty="0" err="1"/>
              <a:t>classifier.predict</a:t>
            </a:r>
            <a:r>
              <a:rPr lang="en-US" dirty="0"/>
              <a:t>(</a:t>
            </a:r>
            <a:r>
              <a:rPr lang="en-US" dirty="0" err="1"/>
              <a:t>x_test</a:t>
            </a:r>
            <a:r>
              <a:rPr lang="en-US" dirty="0"/>
              <a:t>)</a:t>
            </a:r>
          </a:p>
          <a:p>
            <a:r>
              <a:rPr lang="en-US" dirty="0"/>
              <a:t>print("Test Accuracy:", </a:t>
            </a:r>
            <a:r>
              <a:rPr lang="en-US" dirty="0" err="1"/>
              <a:t>accuracy_score</a:t>
            </a:r>
            <a:r>
              <a:rPr lang="en-US" dirty="0"/>
              <a:t>(</a:t>
            </a:r>
            <a:r>
              <a:rPr lang="en-US" dirty="0" err="1"/>
              <a:t>y_test,y_pred</a:t>
            </a:r>
            <a:r>
              <a:rPr lang="en-US" dirty="0"/>
              <a:t>))</a:t>
            </a:r>
          </a:p>
          <a:p>
            <a:r>
              <a:rPr lang="fr-FR" dirty="0" err="1"/>
              <a:t>from</a:t>
            </a:r>
            <a:r>
              <a:rPr lang="fr-FR" dirty="0"/>
              <a:t> </a:t>
            </a:r>
            <a:r>
              <a:rPr lang="fr-FR" dirty="0" err="1"/>
              <a:t>sklearn.metrics</a:t>
            </a:r>
            <a:r>
              <a:rPr lang="fr-FR" dirty="0"/>
              <a:t> import </a:t>
            </a:r>
            <a:r>
              <a:rPr lang="fr-FR" dirty="0" err="1"/>
              <a:t>classification_report,confusion_matrix</a:t>
            </a:r>
            <a:endParaRPr lang="fr-FR" dirty="0"/>
          </a:p>
          <a:p>
            <a:r>
              <a:rPr lang="fr-FR" dirty="0" err="1"/>
              <a:t>print</a:t>
            </a:r>
            <a:r>
              <a:rPr lang="fr-FR" dirty="0"/>
              <a:t>(</a:t>
            </a:r>
            <a:r>
              <a:rPr lang="fr-FR" dirty="0" err="1"/>
              <a:t>confusion_matrix</a:t>
            </a:r>
            <a:r>
              <a:rPr lang="fr-FR" dirty="0"/>
              <a:t>(</a:t>
            </a:r>
            <a:r>
              <a:rPr lang="fr-FR" dirty="0" err="1"/>
              <a:t>y_test,y_pred</a:t>
            </a:r>
            <a:r>
              <a:rPr lang="fr-FR" dirty="0"/>
              <a:t>)) </a:t>
            </a:r>
          </a:p>
          <a:p>
            <a:endParaRPr lang="en-IN" dirty="0"/>
          </a:p>
        </p:txBody>
      </p:sp>
    </p:spTree>
    <p:extLst>
      <p:ext uri="{BB962C8B-B14F-4D97-AF65-F5344CB8AC3E}">
        <p14:creationId xmlns:p14="http://schemas.microsoft.com/office/powerpoint/2010/main" val="18556059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98E25C6-F643-10CB-6845-BD227E6F9165}"/>
              </a:ext>
            </a:extLst>
          </p:cNvPr>
          <p:cNvSpPr>
            <a:spLocks noGrp="1"/>
          </p:cNvSpPr>
          <p:nvPr>
            <p:ph idx="1"/>
          </p:nvPr>
        </p:nvSpPr>
        <p:spPr>
          <a:xfrm>
            <a:off x="1097280" y="533400"/>
            <a:ext cx="10058400" cy="5335694"/>
          </a:xfrm>
        </p:spPr>
        <p:txBody>
          <a:bodyPr>
            <a:normAutofit/>
          </a:bodyPr>
          <a:lstStyle/>
          <a:p>
            <a:endParaRPr lang="en-IN" sz="3200" dirty="0">
              <a:latin typeface="Algerian" panose="04020705040A02060702" pitchFamily="82" charset="0"/>
            </a:endParaRPr>
          </a:p>
          <a:p>
            <a:r>
              <a:rPr lang="en-IN" sz="3200" dirty="0">
                <a:latin typeface="Algerian" panose="04020705040A02060702" pitchFamily="82" charset="0"/>
              </a:rPr>
              <a:t>  CONCLUSION</a:t>
            </a:r>
          </a:p>
          <a:p>
            <a:r>
              <a:rPr lang="en-US" dirty="0"/>
              <a:t>This project successfully demonstrated the application of machine learning techniques to predict individual medical insurance charges using demographic and health-related data. After thorough data preprocessing and exploratory analysis, several regression models—including Simple Linear Regression, Multiple Linear Regression (MLR), K-Nearest Neighbors (KNN), and Support Vector Machine (SVM)—were implemented and evaluated. The results indicated that MLR and SVM models achieved higher accuracy compared to the others, with smoking status, BMI, and age emerging as the most influential predictors of medical costs. This study highlights the potential of data-driven models to support decision-making in healthcare cost estimation and paves the way for future enhancements through advanced algorithms, hyperparameter tuning, and model deployment in real-world insurance systems.</a:t>
            </a:r>
            <a:endParaRPr lang="en-IN" dirty="0"/>
          </a:p>
          <a:p>
            <a:endParaRPr lang="en-IN" sz="3200" dirty="0">
              <a:latin typeface="Algerian" panose="04020705040A02060702" pitchFamily="82" charset="0"/>
            </a:endParaRPr>
          </a:p>
        </p:txBody>
      </p:sp>
    </p:spTree>
    <p:extLst>
      <p:ext uri="{BB962C8B-B14F-4D97-AF65-F5344CB8AC3E}">
        <p14:creationId xmlns:p14="http://schemas.microsoft.com/office/powerpoint/2010/main" val="35674478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326F0FC-929A-0D36-8DD1-1157D12E7C24}"/>
              </a:ext>
            </a:extLst>
          </p:cNvPr>
          <p:cNvSpPr>
            <a:spLocks noGrp="1"/>
          </p:cNvSpPr>
          <p:nvPr>
            <p:ph idx="1"/>
          </p:nvPr>
        </p:nvSpPr>
        <p:spPr>
          <a:xfrm>
            <a:off x="1097280" y="717630"/>
            <a:ext cx="10058400" cy="5151464"/>
          </a:xfrm>
        </p:spPr>
        <p:txBody>
          <a:bodyPr/>
          <a:lstStyle/>
          <a:p>
            <a:r>
              <a:rPr lang="en-US" dirty="0"/>
              <a:t>he performance of these models was assessed using R² score, Mean Absolute Error (MAE), and Mean Squared Error (MSE). The results clearly indicated that:</a:t>
            </a:r>
          </a:p>
          <a:p>
            <a:r>
              <a:rPr lang="en-US" b="1" dirty="0"/>
              <a:t>Smoking status, BMI, and age</a:t>
            </a:r>
            <a:r>
              <a:rPr lang="en-US" dirty="0"/>
              <a:t> are the most influential features impacting medical costs.</a:t>
            </a:r>
          </a:p>
          <a:p>
            <a:r>
              <a:rPr lang="en-US" b="1" dirty="0"/>
              <a:t>MLR</a:t>
            </a:r>
            <a:r>
              <a:rPr lang="en-US" dirty="0"/>
              <a:t> and </a:t>
            </a:r>
            <a:r>
              <a:rPr lang="en-US" b="1" dirty="0"/>
              <a:t>SVM</a:t>
            </a:r>
            <a:r>
              <a:rPr lang="en-US" dirty="0"/>
              <a:t> models significantly outperformed the Simple Linear Regression and KNN models in terms of predictive accuracy.</a:t>
            </a:r>
          </a:p>
          <a:p>
            <a:r>
              <a:rPr lang="en-US" dirty="0"/>
              <a:t>The </a:t>
            </a:r>
            <a:r>
              <a:rPr lang="en-US" b="1" dirty="0"/>
              <a:t>SVM model</a:t>
            </a:r>
            <a:r>
              <a:rPr lang="en-US" dirty="0"/>
              <a:t> particularly excelled at capturing non-linear patterns in the data, especially after appropriate scaling of features.</a:t>
            </a:r>
          </a:p>
          <a:p>
            <a:r>
              <a:rPr lang="en-US" dirty="0"/>
              <a:t>The study reinforces the importance of proper data preprocessing—including encoding and scaling—and shows how model selection and evaluation play a critical role in machine learning workflows. It also highlights the potential of using ML models to assist healthcare providers and insurance companies in estimating costs more fairly and efficiently.</a:t>
            </a:r>
          </a:p>
          <a:p>
            <a:endParaRPr lang="en-IN" dirty="0"/>
          </a:p>
        </p:txBody>
      </p:sp>
    </p:spTree>
    <p:extLst>
      <p:ext uri="{BB962C8B-B14F-4D97-AF65-F5344CB8AC3E}">
        <p14:creationId xmlns:p14="http://schemas.microsoft.com/office/powerpoint/2010/main" val="3129471704"/>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TM02900769[[fn=Retrospect]]</Template>
  <TotalTime>433</TotalTime>
  <Words>2174</Words>
  <Application>Microsoft Office PowerPoint</Application>
  <PresentationFormat>Widescreen</PresentationFormat>
  <Paragraphs>234</Paragraphs>
  <Slides>20</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20</vt:i4>
      </vt:variant>
    </vt:vector>
  </HeadingPairs>
  <TitlesOfParts>
    <vt:vector size="28" baseType="lpstr">
      <vt:lpstr>Arial Unicode MS</vt:lpstr>
      <vt:lpstr>Algerian</vt:lpstr>
      <vt:lpstr>Aptos</vt:lpstr>
      <vt:lpstr>Arial</vt:lpstr>
      <vt:lpstr>Calibri</vt:lpstr>
      <vt:lpstr>Calibri Light</vt:lpstr>
      <vt:lpstr>Wingdings</vt:lpstr>
      <vt:lpstr>Retrospect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Gaddam Nandini</dc:creator>
  <cp:lastModifiedBy>Gaddam Nandini</cp:lastModifiedBy>
  <cp:revision>2</cp:revision>
  <dcterms:created xsi:type="dcterms:W3CDTF">2025-07-16T14:13:21Z</dcterms:created>
  <dcterms:modified xsi:type="dcterms:W3CDTF">2025-07-17T10:47:10Z</dcterms:modified>
</cp:coreProperties>
</file>